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2" r:id="rId9"/>
    <p:sldId id="267" r:id="rId10"/>
    <p:sldId id="265" r:id="rId11"/>
    <p:sldId id="266" r:id="rId12"/>
    <p:sldId id="264"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72"/>
    <p:restoredTop sz="66881"/>
  </p:normalViewPr>
  <p:slideViewPr>
    <p:cSldViewPr snapToGrid="0">
      <p:cViewPr varScale="1">
        <p:scale>
          <a:sx n="98" d="100"/>
          <a:sy n="98" d="100"/>
        </p:scale>
        <p:origin x="236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two surveys and MI-FGSM focus mainly on classification. </a:t>
            </a:r>
            <a:endParaRPr lang="en-GB" dirty="0"/>
          </a:p>
          <a:p>
            <a:endParaRPr lang="en-GB" dirty="0"/>
          </a:p>
          <a:p>
            <a:r>
              <a:rPr lang="en-GB" altLang="zh-CN" dirty="0"/>
              <a:t>MI-FGSM: a paper introducing momentum term to FGSM</a:t>
            </a:r>
          </a:p>
          <a:p>
            <a:endParaRPr lang="en-GB" dirty="0"/>
          </a:p>
          <a:p>
            <a:r>
              <a:rPr dirty="0"/>
              <a:t>Otter covers deterministic and probabilistic variants. </a:t>
            </a:r>
            <a:endParaRPr lang="en-GB" dirty="0"/>
          </a:p>
          <a:p>
            <a:endParaRPr lang="en-GB" dirty="0"/>
          </a:p>
          <a:p>
            <a:r>
              <a:rPr dirty="0"/>
              <a:t>Adversarial Observations attacks probabilistic </a:t>
            </a:r>
            <a:r>
              <a:rPr dirty="0" err="1"/>
              <a:t>GenCast</a:t>
            </a:r>
            <a:r>
              <a:rPr dirty="0"/>
              <a:t>. </a:t>
            </a:r>
            <a:endParaRPr lang="en-GB" dirty="0"/>
          </a:p>
          <a:p>
            <a:endParaRPr lang="en-GB" dirty="0"/>
          </a:p>
          <a:p>
            <a:r>
              <a:rPr dirty="0"/>
              <a:t>Aurora and Aardvark supply model and evaluation context; </a:t>
            </a:r>
            <a:endParaRPr lang="en-GB" dirty="0"/>
          </a:p>
          <a:p>
            <a:r>
              <a:rPr dirty="0"/>
              <a:t>the ECMWF report motivates operational trust. </a:t>
            </a:r>
            <a:endParaRPr lang="en-GB"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Otter lowers the computational barrier for competitive weather-model training. Its 87 </a:t>
            </a:r>
            <a:r>
              <a:rPr lang="en-GB" dirty="0"/>
              <a:t>= 6x13 + 4 + 5</a:t>
            </a:r>
            <a:r>
              <a:rPr dirty="0"/>
              <a:t>input channels include 82 changing fields and five static features. </a:t>
            </a:r>
            <a:endParaRPr lang="en-GB" dirty="0"/>
          </a:p>
          <a:p>
            <a:r>
              <a:rPr dirty="0"/>
              <a:t>The newer paper supports deterministic pretraining, CRPS fine-tuning, and CRPS training from scratch. Rollout fine-tuning grows the horizon from 24 to 72 hours. We have reviewed the architecture and local code but have not attacked Otter.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very useful starting point</a:t>
            </a:r>
          </a:p>
          <a:p>
            <a:endParaRPr lang="en-GB" dirty="0"/>
          </a:p>
          <a:p>
            <a:r>
              <a:rPr dirty="0"/>
              <a:t>Deterministic </a:t>
            </a:r>
            <a:r>
              <a:rPr dirty="0" err="1"/>
              <a:t>GraphCast</a:t>
            </a:r>
            <a:r>
              <a:rPr dirty="0"/>
              <a:t> receives two processed ERA5 states. </a:t>
            </a:r>
            <a:endParaRPr lang="en-GB" dirty="0"/>
          </a:p>
          <a:p>
            <a:r>
              <a:rPr dirty="0"/>
              <a:t>Adam updates those initial states through repeated forecasts, using known future ERA5 verification. </a:t>
            </a:r>
            <a:endParaRPr lang="en-GB" dirty="0"/>
          </a:p>
          <a:p>
            <a:r>
              <a:rPr dirty="0"/>
              <a:t>This is retrospective input </a:t>
            </a:r>
            <a:r>
              <a:rPr dirty="0" err="1"/>
              <a:t>optimisation</a:t>
            </a:r>
            <a:r>
              <a:rPr dirty="0"/>
              <a:t>, not model retraining. </a:t>
            </a:r>
            <a:endParaRPr lang="en-GB" dirty="0"/>
          </a:p>
          <a:p>
            <a:r>
              <a:rPr dirty="0"/>
              <a:t>Corrections partly transfer to Pangu-Weather; their sample mean resembles strengthened Hadley circulation. </a:t>
            </a:r>
            <a:endParaRPr lang="en-GB" dirty="0"/>
          </a:p>
          <a:p>
            <a:endParaRPr lang="en-GB" dirty="0"/>
          </a:p>
          <a:p>
            <a:endParaRPr lang="en-GB" dirty="0"/>
          </a:p>
          <a:p>
            <a:r>
              <a:rPr dirty="0"/>
              <a:t>They are not constrained adversarial attacks. Information error and noise error help distinguish forecast information from reduced variability.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Propose a novel way to attack probabilistic diffusion model, difficulty with back propagation in diffusion model</a:t>
            </a:r>
          </a:p>
          <a:p>
            <a:endParaRPr lang="en-GB" dirty="0"/>
          </a:p>
          <a:p>
            <a:r>
              <a:rPr lang="en-GB" dirty="0"/>
              <a:t>Transferability to Otter unsure/unneeded. Aardvark is also currently deterministic.</a:t>
            </a:r>
          </a:p>
          <a:p>
            <a:endParaRPr lang="en-GB" dirty="0"/>
          </a:p>
          <a:p>
            <a:r>
              <a:rPr lang="en-GB" dirty="0"/>
              <a:t>Interesting way to define </a:t>
            </a:r>
            <a:r>
              <a:rPr lang="en-GB"/>
              <a:t>target attack.</a:t>
            </a:r>
            <a:endParaRPr lang="en-GB" dirty="0"/>
          </a:p>
          <a:p>
            <a:endParaRPr lang="en-GB" dirty="0"/>
          </a:p>
          <a:p>
            <a:r>
              <a:rPr lang="en-GB" dirty="0"/>
              <a:t>S: </a:t>
            </a:r>
            <a:r>
              <a:rPr dirty="0"/>
              <a:t>a regional selection function chooses where forecast changes are desired</a:t>
            </a:r>
            <a:endParaRPr lang="en-GB" dirty="0"/>
          </a:p>
          <a:p>
            <a:r>
              <a:rPr lang="en-GB" dirty="0"/>
              <a:t>V: </a:t>
            </a:r>
            <a:r>
              <a:rPr dirty="0"/>
              <a:t>a variable objective specifies the outcome. </a:t>
            </a:r>
            <a:endParaRPr lang="en-GB" dirty="0"/>
          </a:p>
          <a:p>
            <a:endParaRPr lang="en-GB" dirty="0"/>
          </a:p>
          <a:p>
            <a:r>
              <a:rPr dirty="0"/>
              <a:t>Fabrication increases predicted wind, temperature or precipitation. In the explicit wind example, they </a:t>
            </a:r>
            <a:r>
              <a:rPr dirty="0" err="1"/>
              <a:t>maximise</a:t>
            </a:r>
            <a:r>
              <a:rPr dirty="0"/>
              <a:t> the minimum wind speed over the selected region. </a:t>
            </a:r>
            <a:endParaRPr lang="en-GB" dirty="0"/>
          </a:p>
          <a:p>
            <a:r>
              <a:rPr dirty="0"/>
              <a:t>Concealment </a:t>
            </a:r>
            <a:r>
              <a:rPr dirty="0" err="1"/>
              <a:t>minimises</a:t>
            </a:r>
            <a:r>
              <a:rPr dirty="0"/>
              <a:t> predicted rain for a cyclone or temperature for a heatwave. </a:t>
            </a:r>
            <a:endParaRPr lang="en-GB" dirty="0"/>
          </a:p>
          <a:p>
            <a:r>
              <a:rPr dirty="0"/>
              <a:t>Redirection </a:t>
            </a:r>
            <a:r>
              <a:rPr dirty="0" err="1"/>
              <a:t>minimises</a:t>
            </a:r>
            <a:r>
              <a:rPr dirty="0"/>
              <a:t> wind at the original storm landfall while </a:t>
            </a:r>
            <a:r>
              <a:rPr dirty="0" err="1"/>
              <a:t>maximising</a:t>
            </a:r>
            <a:r>
              <a:rPr dirty="0"/>
              <a:t> wind at a selected alternative, expressed as </a:t>
            </a:r>
            <a:r>
              <a:rPr dirty="0" err="1"/>
              <a:t>minimising</a:t>
            </a:r>
            <a:r>
              <a:rPr dirty="0"/>
              <a:t> old-site wind minus new-site wind. </a:t>
            </a:r>
            <a:endParaRPr lang="en-GB"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FABLE uses deterministic</a:t>
            </a:r>
            <a:r>
              <a:rPr lang="en-GB" dirty="0"/>
              <a:t> </a:t>
            </a:r>
            <a:r>
              <a:rPr dirty="0"/>
              <a:t>and adapted </a:t>
            </a:r>
            <a:r>
              <a:rPr dirty="0" err="1"/>
              <a:t>FourCastNet</a:t>
            </a:r>
            <a:r>
              <a:rPr dirty="0"/>
              <a:t> with processed </a:t>
            </a:r>
            <a:r>
              <a:rPr lang="en-GB" dirty="0"/>
              <a:t>d</a:t>
            </a:r>
            <a:r>
              <a:rPr dirty="0" err="1"/>
              <a:t>ata</a:t>
            </a:r>
            <a:r>
              <a:rPr dirty="0"/>
              <a:t>. </a:t>
            </a:r>
            <a:endParaRPr lang="en-GB" dirty="0"/>
          </a:p>
          <a:p>
            <a:r>
              <a:rPr dirty="0"/>
              <a:t>Localized primarily means a localized desired forecast effect; inputs need not change only in the output target region. </a:t>
            </a:r>
            <a:endParaRPr lang="en-GB" dirty="0"/>
          </a:p>
          <a:p>
            <a:r>
              <a:rPr dirty="0"/>
              <a:t>A 3D Haar transform acts over time and space. </a:t>
            </a:r>
            <a:endParaRPr lang="en-GB" dirty="0"/>
          </a:p>
          <a:p>
            <a:r>
              <a:rPr dirty="0"/>
              <a:t>The loss combines target RMSE with weighted L2 changes in coefficients; reconstructed inputs are clipped to a </a:t>
            </a:r>
            <a:r>
              <a:rPr dirty="0" err="1"/>
              <a:t>Linf</a:t>
            </a:r>
            <a:r>
              <a:rPr dirty="0"/>
              <a:t> bound. Section III evaluates In-AE, Out-AE, input closeness, Moran’s I and temporal autocorrelation. These are plausibility indicators, not proof of atmospheric consistency.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WAAPO attacks deterministic </a:t>
            </a:r>
            <a:r>
              <a:rPr dirty="0" err="1"/>
              <a:t>FourCastNet</a:t>
            </a:r>
            <a:r>
              <a:rPr dirty="0"/>
              <a:t> on ERA5. </a:t>
            </a:r>
            <a:endParaRPr lang="en-GB" dirty="0"/>
          </a:p>
          <a:p>
            <a:r>
              <a:rPr dirty="0"/>
              <a:t>The primary term matches a targeted forecast; </a:t>
            </a:r>
            <a:endParaRPr lang="en-GB" dirty="0"/>
          </a:p>
          <a:p>
            <a:r>
              <a:rPr dirty="0"/>
              <a:t>Channel and geographical masks are hard restrictions on the initial disturbance</a:t>
            </a:r>
            <a:endParaRPr lang="en-GB" dirty="0"/>
          </a:p>
          <a:p>
            <a:r>
              <a:rPr dirty="0"/>
              <a:t>One example makes a 24-hour forecast resemble a five-day state;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paper: End-to-end data-driven weather prediction, Allen et al., Nature2025. This is later research after understanding basic attacks on state-input forecasters. Route1: freeze the processor and optimise its initial weather-state input against a forecast objective. Then search allowed observation changes so the frozen encoder output approximates that attacked state. The encoder is not generally invertible; there may be many solutions or no attainable solution. Route2: compose encoder and processor and differentiate the forecast objective directly with respect to allowed observations, keeping every model weight fixed. The station decoder may also be included if the objective concerns station predictions. Both routes require realistic access, units, budgets and source masks; pre-gridding and quality control must be considered. These are proposals inspired by Aardvark, not adversarial results reported in the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Five-layer CNN predicts five variables six hours ahead from two weather states plus time channels. Train2015–2020; validation2021; test2022. Clean temperature RMSE .788087 K versus persistence2.625192 K. On1458 test cases, Linf0.1K random noise mean of3 trials scores .792730 K; selected directed attack .854726 K. One-step PGD and MI-FGSM equal FGSM here; no momentum benefit demonstrated. Validation selects effort. Across norms, report maximum cell change and RMS; equal numeric budgets are not equal disturbance sets.2022 had been inspected earlier, so conclusions remain exploratory.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fixed update counts retained: 5/10/20/40, alpha=2/N K, clean starts, one attempt, momentum=1, same T2m six-hour loss. FGSM=2.399101958113472, PGD40=2.4297319862677678, MI40=2.415165611559362 K. Budget selected from 0.25/0.5/1/2 K on 32 validation cases before test scoring. The smallest shared budget meeting predeclared visibility criteria was 2 K; 1K narrowly missed six-hour criterion. This is a 20-fold increase, not a small or physically justified perturbation. All pilot scores retained. Momentum is not guaranteed to outperform PGD.</a:t>
            </a:r>
          </a:p>
          <a:p>
            <a:endParaRPr/>
          </a:p>
          <a:p>
            <a:r>
              <a:t>Earlier notes (original ±0.1 K experiment):</a:t>
            </a:r>
          </a:p>
          <a:p>
            <a:r>
              <a:rPr dirty="0"/>
              <a:t>FGSM uses one full-budget sign-gradient update. </a:t>
            </a:r>
            <a:endParaRPr lang="en-GB" dirty="0"/>
          </a:p>
          <a:p>
            <a:r>
              <a:rPr dirty="0"/>
              <a:t>PGD and MI-FGSM use 5/10/20/40 updates with alpha=0.1/updates K, same clean starts and temperature-only six-hour loss. </a:t>
            </a:r>
            <a:endParaRPr lang="en-GB" dirty="0"/>
          </a:p>
          <a:p>
            <a:r>
              <a:rPr dirty="0"/>
              <a:t>The small budget is a plausible contributor to similar scores: </a:t>
            </a:r>
            <a:endParaRPr lang="en-GB" dirty="0"/>
          </a:p>
          <a:p>
            <a:r>
              <a:rPr dirty="0"/>
              <a:t>further updates must stay inside the cell-wise limits and can only adjust the perturbation pattern. </a:t>
            </a:r>
            <a:endParaRPr lang="en-GB" dirty="0"/>
          </a:p>
          <a:p>
            <a:r>
              <a:rPr dirty="0"/>
              <a:t>One budget alone does not establish causation; a budget sweep is needed. Momentum provides no benefit over PGD in this run. All 1458 test examples are included; no test-derived setting selection. Exact scores: FGSM 0.8547260917 K,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 a target such as a two-degree warmer forecast at a specified place/time, while preserving the forecast elsewhere. Begin with a simple constrained targeted-loss baseline. Then compare wavelet and smoothness variants under stated input allowances and computational effort. Longer forecast horizons, cross-model transfer and probabilistic CRPS objectives are subsequent questions. No new experiments on these directions are claimed completed.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4" name="kicker-marker">
            <a:extLst>
              <a:ext uri="{FF2B5EF4-FFF2-40B4-BE49-F238E27FC236}">
                <a16:creationId xmlns:a16="http://schemas.microsoft.com/office/drawing/2014/main" id="{5488FD0C-51B1-43A8-AF84-25503C34BD9E}"/>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BC69A58D-642A-46C8-86EA-C4E00423F3B2}"/>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READING MAP</a:t>
            </a:r>
          </a:p>
        </p:txBody>
      </p:sp>
      <p:sp>
        <p:nvSpPr>
          <p:cNvPr id="3" name="text-1">
            <a:extLst>
              <a:ext uri="{FF2B5EF4-FFF2-40B4-BE49-F238E27FC236}">
                <a16:creationId xmlns:a16="http://schemas.microsoft.com/office/drawing/2014/main" id="{5FAA49A7-81C0-444E-ACA2-B43864F450AE}"/>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t>The reading connects models, attacks and trust</a:t>
            </a:r>
          </a:p>
        </p:txBody>
      </p:sp>
      <p:sp>
        <p:nvSpPr>
          <p:cNvPr id="4" name="shape-2">
            <a:extLst>
              <a:ext uri="{FF2B5EF4-FFF2-40B4-BE49-F238E27FC236}">
                <a16:creationId xmlns:a16="http://schemas.microsoft.com/office/drawing/2014/main" id="{00CF54DC-413E-46B6-98E2-0023A8DD726A}"/>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3">
            <a:extLst>
              <a:ext uri="{FF2B5EF4-FFF2-40B4-BE49-F238E27FC236}">
                <a16:creationId xmlns:a16="http://schemas.microsoft.com/office/drawing/2014/main" id="{633A35C6-FB2E-4893-A016-77EDAD1CEBE0}"/>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t>Reading review • Jerry Meng • 20 October 2026</a:t>
            </a:r>
          </a:p>
        </p:txBody>
      </p:sp>
      <p:sp>
        <p:nvSpPr>
          <p:cNvPr id="6" name="text-4">
            <a:extLst>
              <a:ext uri="{FF2B5EF4-FFF2-40B4-BE49-F238E27FC236}">
                <a16:creationId xmlns:a16="http://schemas.microsoft.com/office/drawing/2014/main" id="{76F5EFB2-C90D-4AB8-9503-27C1EE8B1F0B}"/>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01</a:t>
            </a:r>
          </a:p>
        </p:txBody>
      </p:sp>
      <p:sp>
        <p:nvSpPr>
          <p:cNvPr id="7" name="text-5">
            <a:extLst>
              <a:ext uri="{FF2B5EF4-FFF2-40B4-BE49-F238E27FC236}">
                <a16:creationId xmlns:a16="http://schemas.microsoft.com/office/drawing/2014/main" id="{C940CFCD-6102-4C01-B6A1-8911D68970B3}"/>
              </a:ext>
            </a:extLst>
          </p:cNvPr>
          <p:cNvSpPr>
            <a:spLocks noGrp="1"/>
          </p:cNvSpPr>
          <p:nvPr/>
        </p:nvSpPr>
        <p:spPr>
          <a:xfrm>
            <a:off x="628650" y="2076450"/>
            <a:ext cx="3333750" cy="333375"/>
          </a:xfrm>
          <a:prstGeom prst="rect">
            <a:avLst/>
          </a:prstGeom>
        </p:spPr>
        <p:txBody>
          <a:bodyPr lIns="0" tIns="0" rIns="0" bIns="0"/>
          <a:lstStyle/>
          <a:p>
            <a:pPr>
              <a:buNone/>
              <a:defRPr sz="1275" b="1">
                <a:solidFill>
                  <a:srgbClr val="207E81"/>
                </a:solidFill>
                <a:latin typeface="Arial"/>
                <a:ea typeface="Arial"/>
                <a:cs typeface="Arial"/>
              </a:defRPr>
            </a:pPr>
            <a:r>
              <a:t>MODEL INTRODUCTIONS</a:t>
            </a:r>
          </a:p>
        </p:txBody>
      </p:sp>
      <p:sp>
        <p:nvSpPr>
          <p:cNvPr id="8" name="shape-6">
            <a:extLst>
              <a:ext uri="{FF2B5EF4-FFF2-40B4-BE49-F238E27FC236}">
                <a16:creationId xmlns:a16="http://schemas.microsoft.com/office/drawing/2014/main" id="{892529A9-5A87-452D-9780-BB57BCFBEF78}"/>
              </a:ext>
            </a:extLst>
          </p:cNvPr>
          <p:cNvSpPr>
            <a:spLocks noGrp="1"/>
          </p:cNvSpPr>
          <p:nvPr/>
        </p:nvSpPr>
        <p:spPr>
          <a:xfrm>
            <a:off x="628650" y="2466975"/>
            <a:ext cx="3333750" cy="9525"/>
          </a:xfrm>
          <a:prstGeom prst="rect">
            <a:avLst/>
          </a:prstGeom>
          <a:solidFill>
            <a:srgbClr val="D1D7D4"/>
          </a:solidFill>
          <a:ln w="0">
            <a:solidFill>
              <a:srgbClr val="D1D7D4"/>
            </a:solidFill>
            <a:prstDash val="solid"/>
          </a:ln>
        </p:spPr>
        <p:txBody>
          <a:bodyPr/>
          <a:lstStyle/>
          <a:p>
            <a:endParaRPr/>
          </a:p>
        </p:txBody>
      </p:sp>
      <p:sp>
        <p:nvSpPr>
          <p:cNvPr id="9" name="text-7">
            <a:extLst>
              <a:ext uri="{FF2B5EF4-FFF2-40B4-BE49-F238E27FC236}">
                <a16:creationId xmlns:a16="http://schemas.microsoft.com/office/drawing/2014/main" id="{D7D42106-6924-4C43-A5DB-1F0049394CDF}"/>
              </a:ext>
            </a:extLst>
          </p:cNvPr>
          <p:cNvSpPr>
            <a:spLocks noGrp="1"/>
          </p:cNvSpPr>
          <p:nvPr/>
        </p:nvSpPr>
        <p:spPr>
          <a:xfrm>
            <a:off x="628650" y="2714625"/>
            <a:ext cx="3333750" cy="342900"/>
          </a:xfrm>
          <a:prstGeom prst="rect">
            <a:avLst/>
          </a:prstGeom>
        </p:spPr>
        <p:txBody>
          <a:bodyPr lIns="0" tIns="0" rIns="0" bIns="0"/>
          <a:lstStyle/>
          <a:p>
            <a:pPr>
              <a:buNone/>
              <a:defRPr sz="1725" b="1">
                <a:solidFill>
                  <a:srgbClr val="182C32"/>
                </a:solidFill>
                <a:latin typeface="Arial"/>
                <a:ea typeface="Arial"/>
                <a:cs typeface="Arial"/>
              </a:defRPr>
            </a:pPr>
            <a:r>
              <a:rPr sz="975" b="1">
                <a:solidFill>
                  <a:srgbClr val="182C32"/>
                </a:solidFill>
                <a:latin typeface="Arial"/>
                <a:ea typeface="Arial"/>
                <a:cs typeface="Arial"/>
              </a:rPr>
              <a:t>Otter Weather: Skillful and Computationally Efficient Medium-Range Weather Forecasting</a:t>
            </a:r>
          </a:p>
        </p:txBody>
      </p:sp>
      <p:sp>
        <p:nvSpPr>
          <p:cNvPr id="10" name="text-8">
            <a:extLst>
              <a:ext uri="{FF2B5EF4-FFF2-40B4-BE49-F238E27FC236}">
                <a16:creationId xmlns:a16="http://schemas.microsoft.com/office/drawing/2014/main" id="{4880B924-81A6-4EB0-9F97-14B1648E2D6E}"/>
              </a:ext>
            </a:extLst>
          </p:cNvPr>
          <p:cNvSpPr>
            <a:spLocks noGrp="1"/>
          </p:cNvSpPr>
          <p:nvPr/>
        </p:nvSpPr>
        <p:spPr>
          <a:xfrm>
            <a:off x="628650" y="3067050"/>
            <a:ext cx="3333750" cy="304800"/>
          </a:xfrm>
          <a:prstGeom prst="rect">
            <a:avLst/>
          </a:prstGeom>
        </p:spPr>
        <p:txBody>
          <a:bodyPr lIns="0" tIns="0" rIns="0" bIns="0"/>
          <a:lstStyle/>
          <a:p>
            <a:pPr>
              <a:buNone/>
              <a:defRPr sz="1350" b="0">
                <a:solidFill>
                  <a:srgbClr val="5C6C70"/>
                </a:solidFill>
                <a:latin typeface="Arial"/>
                <a:ea typeface="Arial"/>
                <a:cs typeface="Arial"/>
              </a:defRPr>
            </a:pPr>
            <a:r>
              <a:t>Deterministic + probabilistic</a:t>
            </a:r>
          </a:p>
        </p:txBody>
      </p:sp>
      <p:sp>
        <p:nvSpPr>
          <p:cNvPr id="11" name="text-9">
            <a:extLst>
              <a:ext uri="{FF2B5EF4-FFF2-40B4-BE49-F238E27FC236}">
                <a16:creationId xmlns:a16="http://schemas.microsoft.com/office/drawing/2014/main" id="{1C24E827-279B-43D8-AD93-6369BF7517E8}"/>
              </a:ext>
            </a:extLst>
          </p:cNvPr>
          <p:cNvSpPr>
            <a:spLocks noGrp="1"/>
          </p:cNvSpPr>
          <p:nvPr/>
        </p:nvSpPr>
        <p:spPr>
          <a:xfrm>
            <a:off x="628650" y="3457575"/>
            <a:ext cx="3333750" cy="342900"/>
          </a:xfrm>
          <a:prstGeom prst="rect">
            <a:avLst/>
          </a:prstGeom>
        </p:spPr>
        <p:txBody>
          <a:bodyPr lIns="0" tIns="0" rIns="0" bIns="0"/>
          <a:lstStyle/>
          <a:p>
            <a:pPr>
              <a:buNone/>
              <a:defRPr sz="1725" b="1">
                <a:solidFill>
                  <a:srgbClr val="182C32"/>
                </a:solidFill>
                <a:latin typeface="Arial"/>
                <a:ea typeface="Arial"/>
                <a:cs typeface="Arial"/>
              </a:defRPr>
            </a:pPr>
            <a:r>
              <a:rPr sz="1125" b="1" dirty="0">
                <a:solidFill>
                  <a:srgbClr val="182C32"/>
                </a:solidFill>
                <a:latin typeface="Arial"/>
                <a:ea typeface="Arial"/>
                <a:cs typeface="Arial"/>
              </a:rPr>
              <a:t>A foundation model for the Earth system</a:t>
            </a:r>
            <a:r>
              <a:rPr lang="en-GB" sz="1125" b="1" dirty="0">
                <a:solidFill>
                  <a:srgbClr val="182C32"/>
                </a:solidFill>
                <a:latin typeface="Arial"/>
                <a:ea typeface="Arial"/>
                <a:cs typeface="Arial"/>
              </a:rPr>
              <a:t> (Aurora)</a:t>
            </a:r>
            <a:endParaRPr sz="1125" b="1" dirty="0">
              <a:solidFill>
                <a:srgbClr val="182C32"/>
              </a:solidFill>
              <a:latin typeface="Arial"/>
              <a:ea typeface="Arial"/>
              <a:cs typeface="Arial"/>
            </a:endParaRPr>
          </a:p>
        </p:txBody>
      </p:sp>
      <p:sp>
        <p:nvSpPr>
          <p:cNvPr id="12" name="text-10">
            <a:extLst>
              <a:ext uri="{FF2B5EF4-FFF2-40B4-BE49-F238E27FC236}">
                <a16:creationId xmlns:a16="http://schemas.microsoft.com/office/drawing/2014/main" id="{7B72F535-DF1A-43C7-90AF-590C0F65B69F}"/>
              </a:ext>
            </a:extLst>
          </p:cNvPr>
          <p:cNvSpPr>
            <a:spLocks noGrp="1"/>
          </p:cNvSpPr>
          <p:nvPr/>
        </p:nvSpPr>
        <p:spPr>
          <a:xfrm>
            <a:off x="628650" y="3810000"/>
            <a:ext cx="3333750" cy="304800"/>
          </a:xfrm>
          <a:prstGeom prst="rect">
            <a:avLst/>
          </a:prstGeom>
        </p:spPr>
        <p:txBody>
          <a:bodyPr lIns="0" tIns="0" rIns="0" bIns="0"/>
          <a:lstStyle/>
          <a:p>
            <a:pPr>
              <a:buNone/>
              <a:defRPr sz="1350" b="0">
                <a:solidFill>
                  <a:srgbClr val="5C6C70"/>
                </a:solidFill>
                <a:latin typeface="Arial"/>
                <a:ea typeface="Arial"/>
                <a:cs typeface="Arial"/>
              </a:defRPr>
            </a:pPr>
            <a:r>
              <a:t>Deterministic; multiple tasks</a:t>
            </a:r>
          </a:p>
        </p:txBody>
      </p:sp>
      <p:sp>
        <p:nvSpPr>
          <p:cNvPr id="13" name="text-11">
            <a:extLst>
              <a:ext uri="{FF2B5EF4-FFF2-40B4-BE49-F238E27FC236}">
                <a16:creationId xmlns:a16="http://schemas.microsoft.com/office/drawing/2014/main" id="{314182B1-8B5D-415E-BF78-40BC3688DF22}"/>
              </a:ext>
            </a:extLst>
          </p:cNvPr>
          <p:cNvSpPr>
            <a:spLocks noGrp="1"/>
          </p:cNvSpPr>
          <p:nvPr/>
        </p:nvSpPr>
        <p:spPr>
          <a:xfrm>
            <a:off x="628650" y="4200525"/>
            <a:ext cx="3333750" cy="342900"/>
          </a:xfrm>
          <a:prstGeom prst="rect">
            <a:avLst/>
          </a:prstGeom>
        </p:spPr>
        <p:txBody>
          <a:bodyPr lIns="0" tIns="0" rIns="0" bIns="0"/>
          <a:lstStyle/>
          <a:p>
            <a:pPr>
              <a:buNone/>
              <a:defRPr sz="1725" b="1">
                <a:solidFill>
                  <a:srgbClr val="182C32"/>
                </a:solidFill>
                <a:latin typeface="Arial"/>
                <a:ea typeface="Arial"/>
                <a:cs typeface="Arial"/>
              </a:defRPr>
            </a:pPr>
            <a:r>
              <a:rPr sz="1125" b="1" dirty="0">
                <a:solidFill>
                  <a:srgbClr val="182C32"/>
                </a:solidFill>
                <a:latin typeface="Arial"/>
                <a:ea typeface="Arial"/>
                <a:cs typeface="Arial"/>
              </a:rPr>
              <a:t>End-to-end data-driven weather prediction</a:t>
            </a:r>
            <a:r>
              <a:rPr lang="en-GB" sz="1125" b="1" dirty="0">
                <a:solidFill>
                  <a:srgbClr val="182C32"/>
                </a:solidFill>
                <a:latin typeface="Arial"/>
                <a:ea typeface="Arial"/>
                <a:cs typeface="Arial"/>
              </a:rPr>
              <a:t> (Aardvark)</a:t>
            </a:r>
            <a:endParaRPr sz="1125" b="1" dirty="0">
              <a:solidFill>
                <a:srgbClr val="182C32"/>
              </a:solidFill>
              <a:latin typeface="Arial"/>
              <a:ea typeface="Arial"/>
              <a:cs typeface="Arial"/>
            </a:endParaRPr>
          </a:p>
        </p:txBody>
      </p:sp>
      <p:sp>
        <p:nvSpPr>
          <p:cNvPr id="14" name="text-12">
            <a:extLst>
              <a:ext uri="{FF2B5EF4-FFF2-40B4-BE49-F238E27FC236}">
                <a16:creationId xmlns:a16="http://schemas.microsoft.com/office/drawing/2014/main" id="{76DB265F-A8CA-46B9-9743-F41998087126}"/>
              </a:ext>
            </a:extLst>
          </p:cNvPr>
          <p:cNvSpPr>
            <a:spLocks noGrp="1"/>
          </p:cNvSpPr>
          <p:nvPr/>
        </p:nvSpPr>
        <p:spPr>
          <a:xfrm>
            <a:off x="628650" y="4552950"/>
            <a:ext cx="3333750" cy="304800"/>
          </a:xfrm>
          <a:prstGeom prst="rect">
            <a:avLst/>
          </a:prstGeom>
        </p:spPr>
        <p:txBody>
          <a:bodyPr lIns="0" tIns="0" rIns="0" bIns="0"/>
          <a:lstStyle/>
          <a:p>
            <a:pPr>
              <a:buNone/>
              <a:defRPr sz="1350" b="0">
                <a:solidFill>
                  <a:srgbClr val="5C6C70"/>
                </a:solidFill>
                <a:latin typeface="Arial"/>
                <a:ea typeface="Arial"/>
                <a:cs typeface="Arial"/>
              </a:defRPr>
            </a:pPr>
            <a:r>
              <a:t>Deterministic; observations → forecast</a:t>
            </a:r>
          </a:p>
        </p:txBody>
      </p:sp>
      <p:sp>
        <p:nvSpPr>
          <p:cNvPr id="15" name="text-13">
            <a:extLst>
              <a:ext uri="{FF2B5EF4-FFF2-40B4-BE49-F238E27FC236}">
                <a16:creationId xmlns:a16="http://schemas.microsoft.com/office/drawing/2014/main" id="{B7755247-1D90-4276-BA2D-0A07F436344E}"/>
              </a:ext>
            </a:extLst>
          </p:cNvPr>
          <p:cNvSpPr>
            <a:spLocks noGrp="1"/>
          </p:cNvSpPr>
          <p:nvPr/>
        </p:nvSpPr>
        <p:spPr>
          <a:xfrm>
            <a:off x="4438650" y="2076450"/>
            <a:ext cx="3333750" cy="333375"/>
          </a:xfrm>
          <a:prstGeom prst="rect">
            <a:avLst/>
          </a:prstGeom>
        </p:spPr>
        <p:txBody>
          <a:bodyPr lIns="0" tIns="0" rIns="0" bIns="0"/>
          <a:lstStyle/>
          <a:p>
            <a:pPr>
              <a:buNone/>
              <a:defRPr sz="1275" b="1">
                <a:solidFill>
                  <a:srgbClr val="207E81"/>
                </a:solidFill>
                <a:latin typeface="Arial"/>
                <a:ea typeface="Arial"/>
                <a:cs typeface="Arial"/>
              </a:defRPr>
            </a:pPr>
            <a:r>
              <a:t>SURVEYS / REPORT</a:t>
            </a:r>
          </a:p>
        </p:txBody>
      </p:sp>
      <p:sp>
        <p:nvSpPr>
          <p:cNvPr id="16" name="shape-14">
            <a:extLst>
              <a:ext uri="{FF2B5EF4-FFF2-40B4-BE49-F238E27FC236}">
                <a16:creationId xmlns:a16="http://schemas.microsoft.com/office/drawing/2014/main" id="{F425F7B3-B7AD-4005-80B3-D459AF32367C}"/>
              </a:ext>
            </a:extLst>
          </p:cNvPr>
          <p:cNvSpPr>
            <a:spLocks noGrp="1"/>
          </p:cNvSpPr>
          <p:nvPr/>
        </p:nvSpPr>
        <p:spPr>
          <a:xfrm>
            <a:off x="4438650" y="2466975"/>
            <a:ext cx="3333750" cy="9525"/>
          </a:xfrm>
          <a:prstGeom prst="rect">
            <a:avLst/>
          </a:prstGeom>
          <a:solidFill>
            <a:srgbClr val="D1D7D4"/>
          </a:solidFill>
          <a:ln w="0">
            <a:solidFill>
              <a:srgbClr val="D1D7D4"/>
            </a:solidFill>
            <a:prstDash val="solid"/>
          </a:ln>
        </p:spPr>
        <p:txBody>
          <a:bodyPr/>
          <a:lstStyle/>
          <a:p>
            <a:endParaRPr/>
          </a:p>
        </p:txBody>
      </p:sp>
      <p:sp>
        <p:nvSpPr>
          <p:cNvPr id="17" name="text-15">
            <a:extLst>
              <a:ext uri="{FF2B5EF4-FFF2-40B4-BE49-F238E27FC236}">
                <a16:creationId xmlns:a16="http://schemas.microsoft.com/office/drawing/2014/main" id="{6B880457-2457-4222-863D-5E384A2B8876}"/>
              </a:ext>
            </a:extLst>
          </p:cNvPr>
          <p:cNvSpPr>
            <a:spLocks noGrp="1"/>
          </p:cNvSpPr>
          <p:nvPr/>
        </p:nvSpPr>
        <p:spPr>
          <a:xfrm>
            <a:off x="4438650" y="2714625"/>
            <a:ext cx="3333750" cy="342900"/>
          </a:xfrm>
          <a:prstGeom prst="rect">
            <a:avLst/>
          </a:prstGeom>
        </p:spPr>
        <p:txBody>
          <a:bodyPr lIns="0" tIns="0" rIns="0" bIns="0"/>
          <a:lstStyle/>
          <a:p>
            <a:pPr>
              <a:buNone/>
              <a:defRPr sz="1425" b="1">
                <a:solidFill>
                  <a:srgbClr val="182C32"/>
                </a:solidFill>
                <a:latin typeface="Arial"/>
                <a:ea typeface="Arial"/>
                <a:cs typeface="Arial"/>
              </a:defRPr>
            </a:pPr>
            <a:r>
              <a:rPr sz="975" b="1">
                <a:solidFill>
                  <a:srgbClr val="182C32"/>
                </a:solidFill>
                <a:latin typeface="Arial"/>
                <a:ea typeface="Arial"/>
                <a:cs typeface="Arial"/>
              </a:rPr>
              <a:t>How Deep Learning Sees the World: A Survey on Adversarial Attacks &amp; Defenses</a:t>
            </a:r>
          </a:p>
        </p:txBody>
      </p:sp>
      <p:sp>
        <p:nvSpPr>
          <p:cNvPr id="18" name="text-16">
            <a:extLst>
              <a:ext uri="{FF2B5EF4-FFF2-40B4-BE49-F238E27FC236}">
                <a16:creationId xmlns:a16="http://schemas.microsoft.com/office/drawing/2014/main" id="{4304665F-262F-4CC0-8292-74AFC099DA7D}"/>
              </a:ext>
            </a:extLst>
          </p:cNvPr>
          <p:cNvSpPr>
            <a:spLocks noGrp="1"/>
          </p:cNvSpPr>
          <p:nvPr/>
        </p:nvSpPr>
        <p:spPr>
          <a:xfrm>
            <a:off x="4438650" y="3067050"/>
            <a:ext cx="3333750" cy="304800"/>
          </a:xfrm>
          <a:prstGeom prst="rect">
            <a:avLst/>
          </a:prstGeom>
        </p:spPr>
        <p:txBody>
          <a:bodyPr lIns="0" tIns="0" rIns="0" bIns="0"/>
          <a:lstStyle/>
          <a:p>
            <a:pPr>
              <a:buNone/>
              <a:defRPr sz="1350" b="0">
                <a:solidFill>
                  <a:srgbClr val="5C6C70"/>
                </a:solidFill>
                <a:latin typeface="Arial"/>
                <a:ea typeface="Arial"/>
                <a:cs typeface="Arial"/>
              </a:defRPr>
            </a:pPr>
            <a:r>
              <a:t>Mainly image classification</a:t>
            </a:r>
          </a:p>
        </p:txBody>
      </p:sp>
      <p:sp>
        <p:nvSpPr>
          <p:cNvPr id="19" name="text-17">
            <a:extLst>
              <a:ext uri="{FF2B5EF4-FFF2-40B4-BE49-F238E27FC236}">
                <a16:creationId xmlns:a16="http://schemas.microsoft.com/office/drawing/2014/main" id="{709745FE-B1E5-47AD-A945-69505D6D3FFE}"/>
              </a:ext>
            </a:extLst>
          </p:cNvPr>
          <p:cNvSpPr>
            <a:spLocks noGrp="1"/>
          </p:cNvSpPr>
          <p:nvPr/>
        </p:nvSpPr>
        <p:spPr>
          <a:xfrm>
            <a:off x="4438650" y="3457575"/>
            <a:ext cx="3333750" cy="342900"/>
          </a:xfrm>
          <a:prstGeom prst="rect">
            <a:avLst/>
          </a:prstGeom>
        </p:spPr>
        <p:txBody>
          <a:bodyPr lIns="0" tIns="0" rIns="0" bIns="0"/>
          <a:lstStyle/>
          <a:p>
            <a:pPr>
              <a:buNone/>
              <a:defRPr sz="1425" b="1">
                <a:solidFill>
                  <a:srgbClr val="182C32"/>
                </a:solidFill>
                <a:latin typeface="Arial"/>
                <a:ea typeface="Arial"/>
                <a:cs typeface="Arial"/>
              </a:defRPr>
            </a:pPr>
            <a:r>
              <a:rPr sz="1125" b="1">
                <a:solidFill>
                  <a:srgbClr val="182C32"/>
                </a:solidFill>
                <a:latin typeface="Arial"/>
                <a:ea typeface="Arial"/>
                <a:cs typeface="Arial"/>
              </a:rPr>
              <a:t>Adversarial Attacks and Defences: A Survey</a:t>
            </a:r>
          </a:p>
        </p:txBody>
      </p:sp>
      <p:sp>
        <p:nvSpPr>
          <p:cNvPr id="20" name="text-18">
            <a:extLst>
              <a:ext uri="{FF2B5EF4-FFF2-40B4-BE49-F238E27FC236}">
                <a16:creationId xmlns:a16="http://schemas.microsoft.com/office/drawing/2014/main" id="{31C1CE84-59BE-4601-9873-EDE9D1970109}"/>
              </a:ext>
            </a:extLst>
          </p:cNvPr>
          <p:cNvSpPr>
            <a:spLocks noGrp="1"/>
          </p:cNvSpPr>
          <p:nvPr/>
        </p:nvSpPr>
        <p:spPr>
          <a:xfrm>
            <a:off x="4438650" y="3810000"/>
            <a:ext cx="3333750" cy="304800"/>
          </a:xfrm>
          <a:prstGeom prst="rect">
            <a:avLst/>
          </a:prstGeom>
        </p:spPr>
        <p:txBody>
          <a:bodyPr lIns="0" tIns="0" rIns="0" bIns="0"/>
          <a:lstStyle/>
          <a:p>
            <a:pPr>
              <a:buNone/>
              <a:defRPr sz="1350" b="0">
                <a:solidFill>
                  <a:srgbClr val="5C6C70"/>
                </a:solidFill>
                <a:latin typeface="Arial"/>
                <a:ea typeface="Arial"/>
                <a:cs typeface="Arial"/>
              </a:defRPr>
            </a:pPr>
            <a:r>
              <a:t>Mainly image classification</a:t>
            </a:r>
          </a:p>
        </p:txBody>
      </p:sp>
      <p:sp>
        <p:nvSpPr>
          <p:cNvPr id="21" name="text-19">
            <a:extLst>
              <a:ext uri="{FF2B5EF4-FFF2-40B4-BE49-F238E27FC236}">
                <a16:creationId xmlns:a16="http://schemas.microsoft.com/office/drawing/2014/main" id="{62D0006C-9A6B-467C-A97B-B95936D42CCC}"/>
              </a:ext>
            </a:extLst>
          </p:cNvPr>
          <p:cNvSpPr>
            <a:spLocks noGrp="1"/>
          </p:cNvSpPr>
          <p:nvPr/>
        </p:nvSpPr>
        <p:spPr>
          <a:xfrm>
            <a:off x="4438650" y="4200525"/>
            <a:ext cx="3333750" cy="342900"/>
          </a:xfrm>
          <a:prstGeom prst="rect">
            <a:avLst/>
          </a:prstGeom>
        </p:spPr>
        <p:txBody>
          <a:bodyPr lIns="0" tIns="0" rIns="0" bIns="0"/>
          <a:lstStyle/>
          <a:p>
            <a:pPr>
              <a:buNone/>
              <a:defRPr sz="1725" b="1">
                <a:solidFill>
                  <a:srgbClr val="182C32"/>
                </a:solidFill>
                <a:latin typeface="Arial"/>
                <a:ea typeface="Arial"/>
                <a:cs typeface="Arial"/>
              </a:defRPr>
            </a:pPr>
            <a:r>
              <a:rPr sz="975" b="1">
                <a:solidFill>
                  <a:srgbClr val="182C32"/>
                </a:solidFill>
                <a:latin typeface="Arial"/>
                <a:ea typeface="Arial"/>
                <a:cs typeface="Arial"/>
              </a:rPr>
              <a:t>Explainability and Adversarial Vulnerability in AI-Based Weather Forecasting Systems</a:t>
            </a:r>
          </a:p>
        </p:txBody>
      </p:sp>
      <p:sp>
        <p:nvSpPr>
          <p:cNvPr id="22" name="text-20">
            <a:extLst>
              <a:ext uri="{FF2B5EF4-FFF2-40B4-BE49-F238E27FC236}">
                <a16:creationId xmlns:a16="http://schemas.microsoft.com/office/drawing/2014/main" id="{E7C6BCAB-F86A-4F35-9EC6-808B14554A86}"/>
              </a:ext>
            </a:extLst>
          </p:cNvPr>
          <p:cNvSpPr>
            <a:spLocks noGrp="1"/>
          </p:cNvSpPr>
          <p:nvPr/>
        </p:nvSpPr>
        <p:spPr>
          <a:xfrm>
            <a:off x="4438650" y="4552950"/>
            <a:ext cx="3333750" cy="304800"/>
          </a:xfrm>
          <a:prstGeom prst="rect">
            <a:avLst/>
          </a:prstGeom>
        </p:spPr>
        <p:txBody>
          <a:bodyPr lIns="0" tIns="0" rIns="0" bIns="0"/>
          <a:lstStyle/>
          <a:p>
            <a:pPr>
              <a:buNone/>
              <a:defRPr sz="1350" b="0">
                <a:solidFill>
                  <a:srgbClr val="5C6C70"/>
                </a:solidFill>
                <a:latin typeface="Arial"/>
                <a:ea typeface="Arial"/>
                <a:cs typeface="Arial"/>
              </a:defRPr>
            </a:pPr>
            <a:r>
              <a:t>Weather security and explainability</a:t>
            </a:r>
          </a:p>
        </p:txBody>
      </p:sp>
      <p:sp>
        <p:nvSpPr>
          <p:cNvPr id="23" name="text-21">
            <a:extLst>
              <a:ext uri="{FF2B5EF4-FFF2-40B4-BE49-F238E27FC236}">
                <a16:creationId xmlns:a16="http://schemas.microsoft.com/office/drawing/2014/main" id="{2053AF69-3580-41E1-8F40-62DD1644D88B}"/>
              </a:ext>
            </a:extLst>
          </p:cNvPr>
          <p:cNvSpPr>
            <a:spLocks noGrp="1"/>
          </p:cNvSpPr>
          <p:nvPr/>
        </p:nvSpPr>
        <p:spPr>
          <a:xfrm>
            <a:off x="8248650" y="2076450"/>
            <a:ext cx="3333750" cy="333375"/>
          </a:xfrm>
          <a:prstGeom prst="rect">
            <a:avLst/>
          </a:prstGeom>
        </p:spPr>
        <p:txBody>
          <a:bodyPr lIns="0" tIns="0" rIns="0" bIns="0"/>
          <a:lstStyle/>
          <a:p>
            <a:pPr>
              <a:buNone/>
              <a:defRPr sz="1275" b="1">
                <a:solidFill>
                  <a:srgbClr val="207E81"/>
                </a:solidFill>
                <a:latin typeface="Arial"/>
                <a:ea typeface="Arial"/>
                <a:cs typeface="Arial"/>
              </a:defRPr>
            </a:pPr>
            <a:r>
              <a:t>METHODS / STUDIES</a:t>
            </a:r>
          </a:p>
        </p:txBody>
      </p:sp>
      <p:sp>
        <p:nvSpPr>
          <p:cNvPr id="24" name="shape-22">
            <a:extLst>
              <a:ext uri="{FF2B5EF4-FFF2-40B4-BE49-F238E27FC236}">
                <a16:creationId xmlns:a16="http://schemas.microsoft.com/office/drawing/2014/main" id="{75D3A8AF-D135-4E87-92FE-AF5BA988C684}"/>
              </a:ext>
            </a:extLst>
          </p:cNvPr>
          <p:cNvSpPr>
            <a:spLocks noGrp="1"/>
          </p:cNvSpPr>
          <p:nvPr/>
        </p:nvSpPr>
        <p:spPr>
          <a:xfrm>
            <a:off x="8248650" y="2466975"/>
            <a:ext cx="3333750" cy="9525"/>
          </a:xfrm>
          <a:prstGeom prst="rect">
            <a:avLst/>
          </a:prstGeom>
          <a:solidFill>
            <a:srgbClr val="D1D7D4"/>
          </a:solidFill>
          <a:ln w="0">
            <a:solidFill>
              <a:srgbClr val="D1D7D4"/>
            </a:solidFill>
            <a:prstDash val="solid"/>
          </a:ln>
        </p:spPr>
        <p:txBody>
          <a:bodyPr/>
          <a:lstStyle/>
          <a:p>
            <a:endParaRPr/>
          </a:p>
        </p:txBody>
      </p:sp>
      <p:sp>
        <p:nvSpPr>
          <p:cNvPr id="25" name="text-23">
            <a:extLst>
              <a:ext uri="{FF2B5EF4-FFF2-40B4-BE49-F238E27FC236}">
                <a16:creationId xmlns:a16="http://schemas.microsoft.com/office/drawing/2014/main" id="{3348EB68-0E82-47F0-B85C-8F76338F7481}"/>
              </a:ext>
            </a:extLst>
          </p:cNvPr>
          <p:cNvSpPr>
            <a:spLocks noGrp="1"/>
          </p:cNvSpPr>
          <p:nvPr/>
        </p:nvSpPr>
        <p:spPr>
          <a:xfrm>
            <a:off x="8248650" y="2714625"/>
            <a:ext cx="3333750" cy="342900"/>
          </a:xfrm>
          <a:prstGeom prst="rect">
            <a:avLst/>
          </a:prstGeom>
        </p:spPr>
        <p:txBody>
          <a:bodyPr lIns="0" tIns="0" rIns="0" bIns="0"/>
          <a:lstStyle/>
          <a:p>
            <a:pPr>
              <a:buNone/>
              <a:defRPr sz="1725" b="1">
                <a:solidFill>
                  <a:srgbClr val="182C32"/>
                </a:solidFill>
                <a:latin typeface="Arial"/>
                <a:ea typeface="Arial"/>
                <a:cs typeface="Arial"/>
              </a:defRPr>
            </a:pPr>
            <a:r>
              <a:rPr sz="975" b="1">
                <a:solidFill>
                  <a:srgbClr val="182C32"/>
                </a:solidFill>
                <a:latin typeface="Arial"/>
                <a:ea typeface="Arial"/>
                <a:cs typeface="Arial"/>
              </a:rPr>
              <a:t>Atmospheric Predictability Beyond 30 Days with Machine Learning</a:t>
            </a:r>
          </a:p>
        </p:txBody>
      </p:sp>
      <p:sp>
        <p:nvSpPr>
          <p:cNvPr id="26" name="text-24">
            <a:extLst>
              <a:ext uri="{FF2B5EF4-FFF2-40B4-BE49-F238E27FC236}">
                <a16:creationId xmlns:a16="http://schemas.microsoft.com/office/drawing/2014/main" id="{5F117E9D-6CBF-4316-8B2B-7AB52297E089}"/>
              </a:ext>
            </a:extLst>
          </p:cNvPr>
          <p:cNvSpPr>
            <a:spLocks noGrp="1"/>
          </p:cNvSpPr>
          <p:nvPr/>
        </p:nvSpPr>
        <p:spPr>
          <a:xfrm>
            <a:off x="8248650" y="3067050"/>
            <a:ext cx="3333750" cy="304800"/>
          </a:xfrm>
          <a:prstGeom prst="rect">
            <a:avLst/>
          </a:prstGeom>
        </p:spPr>
        <p:txBody>
          <a:bodyPr lIns="0" tIns="0" rIns="0" bIns="0"/>
          <a:lstStyle/>
          <a:p>
            <a:pPr>
              <a:buNone/>
              <a:defRPr sz="1350" b="0">
                <a:solidFill>
                  <a:srgbClr val="5C6C70"/>
                </a:solidFill>
                <a:latin typeface="Arial"/>
                <a:ea typeface="Arial"/>
                <a:cs typeface="Arial"/>
              </a:defRPr>
            </a:pPr>
            <a:r>
              <a:rPr dirty="0"/>
              <a:t>Reduce error; fixed </a:t>
            </a:r>
            <a:r>
              <a:rPr lang="en-GB" dirty="0"/>
              <a:t>probabilistic </a:t>
            </a:r>
            <a:r>
              <a:rPr dirty="0" err="1"/>
              <a:t>GraphCast</a:t>
            </a:r>
            <a:endParaRPr dirty="0"/>
          </a:p>
        </p:txBody>
      </p:sp>
      <p:sp>
        <p:nvSpPr>
          <p:cNvPr id="27" name="text-25">
            <a:extLst>
              <a:ext uri="{FF2B5EF4-FFF2-40B4-BE49-F238E27FC236}">
                <a16:creationId xmlns:a16="http://schemas.microsoft.com/office/drawing/2014/main" id="{61118E56-0F77-4E6D-A5E2-8CF34A5B730D}"/>
              </a:ext>
            </a:extLst>
          </p:cNvPr>
          <p:cNvSpPr>
            <a:spLocks noGrp="1"/>
          </p:cNvSpPr>
          <p:nvPr/>
        </p:nvSpPr>
        <p:spPr>
          <a:xfrm>
            <a:off x="8248650" y="3457575"/>
            <a:ext cx="3333750" cy="342900"/>
          </a:xfrm>
          <a:prstGeom prst="rect">
            <a:avLst/>
          </a:prstGeom>
        </p:spPr>
        <p:txBody>
          <a:bodyPr lIns="0" tIns="0" rIns="0" bIns="0"/>
          <a:lstStyle/>
          <a:p>
            <a:pPr>
              <a:buNone/>
              <a:defRPr sz="1725" b="1">
                <a:solidFill>
                  <a:srgbClr val="182C32"/>
                </a:solidFill>
                <a:latin typeface="Arial"/>
                <a:ea typeface="Arial"/>
                <a:cs typeface="Arial"/>
              </a:defRPr>
            </a:pPr>
            <a:r>
              <a:rPr sz="1125" b="1" dirty="0">
                <a:solidFill>
                  <a:srgbClr val="182C32"/>
                </a:solidFill>
                <a:latin typeface="Arial"/>
                <a:ea typeface="Arial"/>
                <a:cs typeface="Arial"/>
              </a:rPr>
              <a:t>Adversarial Observations in Weather Forecasting</a:t>
            </a:r>
          </a:p>
        </p:txBody>
      </p:sp>
      <p:sp>
        <p:nvSpPr>
          <p:cNvPr id="28" name="text-26">
            <a:extLst>
              <a:ext uri="{FF2B5EF4-FFF2-40B4-BE49-F238E27FC236}">
                <a16:creationId xmlns:a16="http://schemas.microsoft.com/office/drawing/2014/main" id="{7C2CD59D-A07B-456C-B18F-F3A991EFDCED}"/>
              </a:ext>
            </a:extLst>
          </p:cNvPr>
          <p:cNvSpPr>
            <a:spLocks noGrp="1"/>
          </p:cNvSpPr>
          <p:nvPr/>
        </p:nvSpPr>
        <p:spPr>
          <a:xfrm>
            <a:off x="8248650" y="3810000"/>
            <a:ext cx="3333750" cy="304800"/>
          </a:xfrm>
          <a:prstGeom prst="rect">
            <a:avLst/>
          </a:prstGeom>
        </p:spPr>
        <p:txBody>
          <a:bodyPr lIns="0" tIns="0" rIns="0" bIns="0"/>
          <a:lstStyle/>
          <a:p>
            <a:pPr>
              <a:buNone/>
              <a:defRPr sz="1350" b="0">
                <a:solidFill>
                  <a:srgbClr val="5C6C70"/>
                </a:solidFill>
                <a:latin typeface="Arial"/>
                <a:ea typeface="Arial"/>
                <a:cs typeface="Arial"/>
              </a:defRPr>
            </a:pPr>
            <a:r>
              <a:t>Probabilistic GenCast attacks</a:t>
            </a:r>
          </a:p>
        </p:txBody>
      </p:sp>
      <p:sp>
        <p:nvSpPr>
          <p:cNvPr id="29" name="text-27">
            <a:extLst>
              <a:ext uri="{FF2B5EF4-FFF2-40B4-BE49-F238E27FC236}">
                <a16:creationId xmlns:a16="http://schemas.microsoft.com/office/drawing/2014/main" id="{CBEE091C-34DF-4ABE-BB5C-73C61559E7F7}"/>
              </a:ext>
            </a:extLst>
          </p:cNvPr>
          <p:cNvSpPr>
            <a:spLocks noGrp="1"/>
          </p:cNvSpPr>
          <p:nvPr/>
        </p:nvSpPr>
        <p:spPr>
          <a:xfrm>
            <a:off x="8248650" y="4200525"/>
            <a:ext cx="3333750" cy="342900"/>
          </a:xfrm>
          <a:prstGeom prst="rect">
            <a:avLst/>
          </a:prstGeom>
        </p:spPr>
        <p:txBody>
          <a:bodyPr lIns="0" tIns="0" rIns="0" bIns="0"/>
          <a:lstStyle/>
          <a:p>
            <a:pPr>
              <a:buNone/>
              <a:defRPr sz="1725" b="1">
                <a:solidFill>
                  <a:srgbClr val="182C32"/>
                </a:solidFill>
                <a:latin typeface="Arial"/>
                <a:ea typeface="Arial"/>
                <a:cs typeface="Arial"/>
              </a:defRPr>
            </a:pPr>
            <a:r>
              <a:t>FABLE / Forecasting Fails</a:t>
            </a:r>
          </a:p>
        </p:txBody>
      </p:sp>
      <p:sp>
        <p:nvSpPr>
          <p:cNvPr id="30" name="text-28">
            <a:extLst>
              <a:ext uri="{FF2B5EF4-FFF2-40B4-BE49-F238E27FC236}">
                <a16:creationId xmlns:a16="http://schemas.microsoft.com/office/drawing/2014/main" id="{5551AE25-D13A-47DE-946C-4844263EEEAA}"/>
              </a:ext>
            </a:extLst>
          </p:cNvPr>
          <p:cNvSpPr>
            <a:spLocks noGrp="1"/>
          </p:cNvSpPr>
          <p:nvPr/>
        </p:nvSpPr>
        <p:spPr>
          <a:xfrm>
            <a:off x="8248650" y="4552950"/>
            <a:ext cx="3333750" cy="304800"/>
          </a:xfrm>
          <a:prstGeom prst="rect">
            <a:avLst/>
          </a:prstGeom>
        </p:spPr>
        <p:txBody>
          <a:bodyPr lIns="0" tIns="0" rIns="0" bIns="0"/>
          <a:lstStyle/>
          <a:p>
            <a:pPr>
              <a:buNone/>
              <a:defRPr sz="1350" b="0">
                <a:solidFill>
                  <a:srgbClr val="5C6C70"/>
                </a:solidFill>
                <a:latin typeface="Arial"/>
                <a:ea typeface="Arial"/>
                <a:cs typeface="Arial"/>
              </a:defRPr>
            </a:pPr>
            <a:r>
              <a:t>Deterministic weather attacks</a:t>
            </a:r>
          </a:p>
        </p:txBody>
      </p:sp>
      <p:sp>
        <p:nvSpPr>
          <p:cNvPr id="31" name="text-29">
            <a:extLst>
              <a:ext uri="{FF2B5EF4-FFF2-40B4-BE49-F238E27FC236}">
                <a16:creationId xmlns:a16="http://schemas.microsoft.com/office/drawing/2014/main" id="{9425467A-713E-407F-B6C4-C19AF0752FD8}"/>
              </a:ext>
            </a:extLst>
          </p:cNvPr>
          <p:cNvSpPr>
            <a:spLocks noGrp="1"/>
          </p:cNvSpPr>
          <p:nvPr/>
        </p:nvSpPr>
        <p:spPr>
          <a:xfrm>
            <a:off x="8248650" y="4943475"/>
            <a:ext cx="3333750" cy="342900"/>
          </a:xfrm>
          <a:prstGeom prst="rect">
            <a:avLst/>
          </a:prstGeom>
        </p:spPr>
        <p:txBody>
          <a:bodyPr lIns="0" tIns="0" rIns="0" bIns="0"/>
          <a:lstStyle/>
          <a:p>
            <a:pPr>
              <a:buNone/>
              <a:defRPr sz="1725" b="1">
                <a:solidFill>
                  <a:srgbClr val="182C32"/>
                </a:solidFill>
                <a:latin typeface="Arial"/>
                <a:ea typeface="Arial"/>
                <a:cs typeface="Arial"/>
              </a:defRPr>
            </a:pPr>
            <a:r>
              <a:rPr sz="1125" b="1">
                <a:solidFill>
                  <a:srgbClr val="182C32"/>
                </a:solidFill>
                <a:latin typeface="Arial"/>
                <a:ea typeface="Arial"/>
                <a:cs typeface="Arial"/>
              </a:rPr>
              <a:t>Boosting Adversarial Attacks with Momentum</a:t>
            </a:r>
          </a:p>
        </p:txBody>
      </p:sp>
      <p:sp>
        <p:nvSpPr>
          <p:cNvPr id="32" name="text-30">
            <a:extLst>
              <a:ext uri="{FF2B5EF4-FFF2-40B4-BE49-F238E27FC236}">
                <a16:creationId xmlns:a16="http://schemas.microsoft.com/office/drawing/2014/main" id="{FA9690E8-233D-41BF-9D7E-CDC04CDBCC01}"/>
              </a:ext>
            </a:extLst>
          </p:cNvPr>
          <p:cNvSpPr>
            <a:spLocks noGrp="1"/>
          </p:cNvSpPr>
          <p:nvPr/>
        </p:nvSpPr>
        <p:spPr>
          <a:xfrm>
            <a:off x="8248650" y="5295900"/>
            <a:ext cx="3333750" cy="304800"/>
          </a:xfrm>
          <a:prstGeom prst="rect">
            <a:avLst/>
          </a:prstGeom>
        </p:spPr>
        <p:txBody>
          <a:bodyPr lIns="0" tIns="0" rIns="0" bIns="0"/>
          <a:lstStyle/>
          <a:p>
            <a:pPr>
              <a:buNone/>
              <a:defRPr sz="1350" b="0">
                <a:solidFill>
                  <a:srgbClr val="5C6C70"/>
                </a:solidFill>
                <a:latin typeface="Arial"/>
                <a:ea typeface="Arial"/>
                <a:cs typeface="Arial"/>
              </a:defRPr>
            </a:pPr>
            <a:r>
              <a:t>Classification; transfer attacks</a:t>
            </a:r>
          </a:p>
        </p:txBody>
      </p:sp>
    </p:spTree>
    <p:extLst>
      <p:ext uri="{BB962C8B-B14F-4D97-AF65-F5344CB8AC3E}">
        <p14:creationId xmlns:p14="http://schemas.microsoft.com/office/powerpoint/2010/main" val="786161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7B4A86D5-5497-46F7-9418-7451B6C1DF2E}"/>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117D594F-DB53-4143-AE0B-A21E7E531641}"/>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OTTER WEATHER</a:t>
            </a:r>
          </a:p>
        </p:txBody>
      </p:sp>
      <p:sp>
        <p:nvSpPr>
          <p:cNvPr id="3" name="text-32">
            <a:extLst>
              <a:ext uri="{FF2B5EF4-FFF2-40B4-BE49-F238E27FC236}">
                <a16:creationId xmlns:a16="http://schemas.microsoft.com/office/drawing/2014/main" id="{92BF6277-D77E-40CA-8375-DEC16EB40E84}"/>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t>Otter offers an accessible bridge to a larger model</a:t>
            </a:r>
          </a:p>
        </p:txBody>
      </p:sp>
      <p:sp>
        <p:nvSpPr>
          <p:cNvPr id="4" name="shape-33">
            <a:extLst>
              <a:ext uri="{FF2B5EF4-FFF2-40B4-BE49-F238E27FC236}">
                <a16:creationId xmlns:a16="http://schemas.microsoft.com/office/drawing/2014/main" id="{8D36420D-D457-4CDA-8914-9E55299967E0}"/>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34">
            <a:extLst>
              <a:ext uri="{FF2B5EF4-FFF2-40B4-BE49-F238E27FC236}">
                <a16:creationId xmlns:a16="http://schemas.microsoft.com/office/drawing/2014/main" id="{6BB15BA9-E566-4774-8DEE-3F45E0BD58F5}"/>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Otter Weather: Skillful and Computationally Efficient Medium-Range Weather Forecasting • arxiv.org/abs/2606.26421</a:t>
            </a:r>
          </a:p>
        </p:txBody>
      </p:sp>
      <p:sp>
        <p:nvSpPr>
          <p:cNvPr id="6" name="text-35">
            <a:extLst>
              <a:ext uri="{FF2B5EF4-FFF2-40B4-BE49-F238E27FC236}">
                <a16:creationId xmlns:a16="http://schemas.microsoft.com/office/drawing/2014/main" id="{B30D84F3-972E-448A-96AB-857B119AE9E4}"/>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02</a:t>
            </a:r>
          </a:p>
        </p:txBody>
      </p:sp>
      <p:sp>
        <p:nvSpPr>
          <p:cNvPr id="7" name="text-36">
            <a:extLst>
              <a:ext uri="{FF2B5EF4-FFF2-40B4-BE49-F238E27FC236}">
                <a16:creationId xmlns:a16="http://schemas.microsoft.com/office/drawing/2014/main" id="{5707F8F4-416A-4340-9C59-CA1BC9560A15}"/>
              </a:ext>
            </a:extLst>
          </p:cNvPr>
          <p:cNvSpPr>
            <a:spLocks noGrp="1"/>
          </p:cNvSpPr>
          <p:nvPr/>
        </p:nvSpPr>
        <p:spPr>
          <a:xfrm>
            <a:off x="628650" y="1943100"/>
            <a:ext cx="10858500" cy="400050"/>
          </a:xfrm>
          <a:prstGeom prst="rect">
            <a:avLst/>
          </a:prstGeom>
        </p:spPr>
        <p:txBody>
          <a:bodyPr lIns="0" tIns="0" rIns="0" bIns="0"/>
          <a:lstStyle/>
          <a:p>
            <a:pPr>
              <a:buNone/>
              <a:defRPr sz="1875" b="0">
                <a:solidFill>
                  <a:srgbClr val="5C6C70"/>
                </a:solidFill>
                <a:latin typeface="Arial"/>
                <a:ea typeface="Arial"/>
                <a:cs typeface="Arial"/>
              </a:defRPr>
            </a:pPr>
            <a:r>
              <a:t>Processed ERA5 history • four states • six-hour prediction</a:t>
            </a:r>
          </a:p>
        </p:txBody>
      </p:sp>
      <p:sp>
        <p:nvSpPr>
          <p:cNvPr id="8" name="shape-37">
            <a:extLst>
              <a:ext uri="{FF2B5EF4-FFF2-40B4-BE49-F238E27FC236}">
                <a16:creationId xmlns:a16="http://schemas.microsoft.com/office/drawing/2014/main" id="{DAC53C72-6F22-4A7B-AD25-8A7410CE6569}"/>
              </a:ext>
            </a:extLst>
          </p:cNvPr>
          <p:cNvSpPr>
            <a:spLocks noGrp="1"/>
          </p:cNvSpPr>
          <p:nvPr/>
        </p:nvSpPr>
        <p:spPr>
          <a:xfrm>
            <a:off x="628650" y="2600325"/>
            <a:ext cx="3352800" cy="1066800"/>
          </a:xfrm>
          <a:prstGeom prst="rect">
            <a:avLst/>
          </a:prstGeom>
          <a:solidFill>
            <a:srgbClr val="E2ECE7"/>
          </a:solidFill>
          <a:ln w="0">
            <a:solidFill>
              <a:srgbClr val="E2ECE7"/>
            </a:solidFill>
            <a:prstDash val="solid"/>
          </a:ln>
        </p:spPr>
        <p:txBody>
          <a:bodyPr/>
          <a:lstStyle/>
          <a:p>
            <a:endParaRPr/>
          </a:p>
        </p:txBody>
      </p:sp>
      <p:sp>
        <p:nvSpPr>
          <p:cNvPr id="9" name="text-38">
            <a:extLst>
              <a:ext uri="{FF2B5EF4-FFF2-40B4-BE49-F238E27FC236}">
                <a16:creationId xmlns:a16="http://schemas.microsoft.com/office/drawing/2014/main" id="{261CDED0-31E9-47AC-87EB-C19EFC351A07}"/>
              </a:ext>
            </a:extLst>
          </p:cNvPr>
          <p:cNvSpPr>
            <a:spLocks noGrp="1"/>
          </p:cNvSpPr>
          <p:nvPr/>
        </p:nvSpPr>
        <p:spPr>
          <a:xfrm>
            <a:off x="781050" y="2809875"/>
            <a:ext cx="3048000" cy="742950"/>
          </a:xfrm>
          <a:prstGeom prst="rect">
            <a:avLst/>
          </a:prstGeom>
        </p:spPr>
        <p:txBody>
          <a:bodyPr lIns="0" tIns="0" rIns="0" bIns="0"/>
          <a:lstStyle/>
          <a:p>
            <a:pPr>
              <a:buNone/>
              <a:defRPr sz="1725" b="1">
                <a:solidFill>
                  <a:srgbClr val="182C32"/>
                </a:solidFill>
                <a:latin typeface="Arial"/>
                <a:ea typeface="Arial"/>
                <a:cs typeface="Arial"/>
              </a:defRPr>
            </a:pPr>
            <a:r>
              <a:t>Weather fields</a:t>
            </a:r>
          </a:p>
        </p:txBody>
      </p:sp>
      <p:sp>
        <p:nvSpPr>
          <p:cNvPr id="10" name="text-39">
            <a:extLst>
              <a:ext uri="{FF2B5EF4-FFF2-40B4-BE49-F238E27FC236}">
                <a16:creationId xmlns:a16="http://schemas.microsoft.com/office/drawing/2014/main" id="{946FD7EA-CE9E-4CE9-914C-4430F0651C64}"/>
              </a:ext>
            </a:extLst>
          </p:cNvPr>
          <p:cNvSpPr>
            <a:spLocks noGrp="1"/>
          </p:cNvSpPr>
          <p:nvPr/>
        </p:nvSpPr>
        <p:spPr>
          <a:xfrm>
            <a:off x="4057650" y="2924175"/>
            <a:ext cx="323850" cy="457200"/>
          </a:xfrm>
          <a:prstGeom prst="rect">
            <a:avLst/>
          </a:prstGeom>
        </p:spPr>
        <p:txBody>
          <a:bodyPr lIns="0" tIns="0" rIns="0" bIns="0"/>
          <a:lstStyle/>
          <a:p>
            <a:pPr>
              <a:buNone/>
              <a:defRPr sz="2250" b="0">
                <a:solidFill>
                  <a:srgbClr val="207E81"/>
                </a:solidFill>
                <a:latin typeface="Arial"/>
                <a:ea typeface="Arial"/>
                <a:cs typeface="Arial"/>
              </a:defRPr>
            </a:pPr>
            <a:r>
              <a:t>→</a:t>
            </a:r>
          </a:p>
        </p:txBody>
      </p:sp>
      <p:sp>
        <p:nvSpPr>
          <p:cNvPr id="11" name="shape-40">
            <a:extLst>
              <a:ext uri="{FF2B5EF4-FFF2-40B4-BE49-F238E27FC236}">
                <a16:creationId xmlns:a16="http://schemas.microsoft.com/office/drawing/2014/main" id="{2D05C70A-A296-4CB8-9D6E-681500FFAF0A}"/>
              </a:ext>
            </a:extLst>
          </p:cNvPr>
          <p:cNvSpPr>
            <a:spLocks noGrp="1"/>
          </p:cNvSpPr>
          <p:nvPr/>
        </p:nvSpPr>
        <p:spPr>
          <a:xfrm>
            <a:off x="4419600" y="2600325"/>
            <a:ext cx="3352800" cy="1066800"/>
          </a:xfrm>
          <a:prstGeom prst="rect">
            <a:avLst/>
          </a:prstGeom>
          <a:solidFill>
            <a:srgbClr val="E2ECE7"/>
          </a:solidFill>
          <a:ln w="0">
            <a:solidFill>
              <a:srgbClr val="E2ECE7"/>
            </a:solidFill>
            <a:prstDash val="solid"/>
          </a:ln>
        </p:spPr>
        <p:txBody>
          <a:bodyPr/>
          <a:lstStyle/>
          <a:p>
            <a:endParaRPr/>
          </a:p>
        </p:txBody>
      </p:sp>
      <p:sp>
        <p:nvSpPr>
          <p:cNvPr id="12" name="text-41">
            <a:extLst>
              <a:ext uri="{FF2B5EF4-FFF2-40B4-BE49-F238E27FC236}">
                <a16:creationId xmlns:a16="http://schemas.microsoft.com/office/drawing/2014/main" id="{580C9A0B-D15F-4CF5-8F75-DDDD9EEB74F4}"/>
              </a:ext>
            </a:extLst>
          </p:cNvPr>
          <p:cNvSpPr>
            <a:spLocks noGrp="1"/>
          </p:cNvSpPr>
          <p:nvPr/>
        </p:nvSpPr>
        <p:spPr>
          <a:xfrm>
            <a:off x="4572000" y="2809875"/>
            <a:ext cx="3048000" cy="742950"/>
          </a:xfrm>
          <a:prstGeom prst="rect">
            <a:avLst/>
          </a:prstGeom>
        </p:spPr>
        <p:txBody>
          <a:bodyPr lIns="0" tIns="0" rIns="0" bIns="0"/>
          <a:lstStyle/>
          <a:p>
            <a:pPr>
              <a:buNone/>
              <a:defRPr sz="1725" b="1">
                <a:solidFill>
                  <a:srgbClr val="182C32"/>
                </a:solidFill>
                <a:latin typeface="Arial"/>
                <a:ea typeface="Arial"/>
                <a:cs typeface="Arial"/>
              </a:defRPr>
            </a:pPr>
            <a:r>
              <a:t>Swin Transformer U-Net</a:t>
            </a:r>
          </a:p>
        </p:txBody>
      </p:sp>
      <p:sp>
        <p:nvSpPr>
          <p:cNvPr id="13" name="text-42">
            <a:extLst>
              <a:ext uri="{FF2B5EF4-FFF2-40B4-BE49-F238E27FC236}">
                <a16:creationId xmlns:a16="http://schemas.microsoft.com/office/drawing/2014/main" id="{81E591E7-821D-4DC5-B277-898CDB2C83DE}"/>
              </a:ext>
            </a:extLst>
          </p:cNvPr>
          <p:cNvSpPr>
            <a:spLocks noGrp="1"/>
          </p:cNvSpPr>
          <p:nvPr/>
        </p:nvSpPr>
        <p:spPr>
          <a:xfrm>
            <a:off x="7848600" y="2924175"/>
            <a:ext cx="323850" cy="457200"/>
          </a:xfrm>
          <a:prstGeom prst="rect">
            <a:avLst/>
          </a:prstGeom>
        </p:spPr>
        <p:txBody>
          <a:bodyPr lIns="0" tIns="0" rIns="0" bIns="0"/>
          <a:lstStyle/>
          <a:p>
            <a:pPr>
              <a:buNone/>
              <a:defRPr sz="2250" b="0">
                <a:solidFill>
                  <a:srgbClr val="207E81"/>
                </a:solidFill>
                <a:latin typeface="Arial"/>
                <a:ea typeface="Arial"/>
                <a:cs typeface="Arial"/>
              </a:defRPr>
            </a:pPr>
            <a:r>
              <a:t>→</a:t>
            </a:r>
          </a:p>
        </p:txBody>
      </p:sp>
      <p:sp>
        <p:nvSpPr>
          <p:cNvPr id="14" name="shape-43">
            <a:extLst>
              <a:ext uri="{FF2B5EF4-FFF2-40B4-BE49-F238E27FC236}">
                <a16:creationId xmlns:a16="http://schemas.microsoft.com/office/drawing/2014/main" id="{842188AE-05ED-4330-BA23-B0702ADD5471}"/>
              </a:ext>
            </a:extLst>
          </p:cNvPr>
          <p:cNvSpPr>
            <a:spLocks noGrp="1"/>
          </p:cNvSpPr>
          <p:nvPr/>
        </p:nvSpPr>
        <p:spPr>
          <a:xfrm>
            <a:off x="8210550" y="2600325"/>
            <a:ext cx="3352800" cy="1066800"/>
          </a:xfrm>
          <a:prstGeom prst="rect">
            <a:avLst/>
          </a:prstGeom>
          <a:solidFill>
            <a:srgbClr val="E2ECE7"/>
          </a:solidFill>
          <a:ln w="0">
            <a:solidFill>
              <a:srgbClr val="E2ECE7"/>
            </a:solidFill>
            <a:prstDash val="solid"/>
          </a:ln>
        </p:spPr>
        <p:txBody>
          <a:bodyPr/>
          <a:lstStyle/>
          <a:p>
            <a:endParaRPr/>
          </a:p>
        </p:txBody>
      </p:sp>
      <p:sp>
        <p:nvSpPr>
          <p:cNvPr id="15" name="text-44">
            <a:extLst>
              <a:ext uri="{FF2B5EF4-FFF2-40B4-BE49-F238E27FC236}">
                <a16:creationId xmlns:a16="http://schemas.microsoft.com/office/drawing/2014/main" id="{C07F01D2-E5DC-41E3-80F6-0B7A5799AC97}"/>
              </a:ext>
            </a:extLst>
          </p:cNvPr>
          <p:cNvSpPr>
            <a:spLocks noGrp="1"/>
          </p:cNvSpPr>
          <p:nvPr/>
        </p:nvSpPr>
        <p:spPr>
          <a:xfrm>
            <a:off x="8362950" y="2809875"/>
            <a:ext cx="3048000" cy="742950"/>
          </a:xfrm>
          <a:prstGeom prst="rect">
            <a:avLst/>
          </a:prstGeom>
        </p:spPr>
        <p:txBody>
          <a:bodyPr lIns="0" tIns="0" rIns="0" bIns="0"/>
          <a:lstStyle/>
          <a:p>
            <a:pPr>
              <a:buNone/>
              <a:defRPr sz="1725" b="1">
                <a:solidFill>
                  <a:srgbClr val="182C32"/>
                </a:solidFill>
                <a:latin typeface="Arial"/>
                <a:ea typeface="Arial"/>
                <a:cs typeface="Arial"/>
              </a:defRPr>
            </a:pPr>
            <a:r>
              <a:t>Predicted change + latest state</a:t>
            </a:r>
          </a:p>
        </p:txBody>
      </p:sp>
      <p:sp>
        <p:nvSpPr>
          <p:cNvPr id="16" name="shape-45">
            <a:extLst>
              <a:ext uri="{FF2B5EF4-FFF2-40B4-BE49-F238E27FC236}">
                <a16:creationId xmlns:a16="http://schemas.microsoft.com/office/drawing/2014/main" id="{152401E0-C61C-4771-92B4-D7BF23B80A2E}"/>
              </a:ext>
            </a:extLst>
          </p:cNvPr>
          <p:cNvSpPr>
            <a:spLocks noGrp="1"/>
          </p:cNvSpPr>
          <p:nvPr/>
        </p:nvSpPr>
        <p:spPr>
          <a:xfrm>
            <a:off x="628650" y="4038600"/>
            <a:ext cx="10934700" cy="9525"/>
          </a:xfrm>
          <a:prstGeom prst="rect">
            <a:avLst/>
          </a:prstGeom>
          <a:solidFill>
            <a:srgbClr val="D1D7D4"/>
          </a:solidFill>
          <a:ln w="0">
            <a:solidFill>
              <a:srgbClr val="D1D7D4"/>
            </a:solidFill>
            <a:prstDash val="solid"/>
          </a:ln>
        </p:spPr>
        <p:txBody>
          <a:bodyPr/>
          <a:lstStyle/>
          <a:p>
            <a:endParaRPr/>
          </a:p>
        </p:txBody>
      </p:sp>
      <p:sp>
        <p:nvSpPr>
          <p:cNvPr id="17" name="text-46">
            <a:extLst>
              <a:ext uri="{FF2B5EF4-FFF2-40B4-BE49-F238E27FC236}">
                <a16:creationId xmlns:a16="http://schemas.microsoft.com/office/drawing/2014/main" id="{D1CB1A06-32C3-4FCC-818F-C4F6CC928560}"/>
              </a:ext>
            </a:extLst>
          </p:cNvPr>
          <p:cNvSpPr>
            <a:spLocks noGrp="1"/>
          </p:cNvSpPr>
          <p:nvPr/>
        </p:nvSpPr>
        <p:spPr>
          <a:xfrm>
            <a:off x="628650" y="4286250"/>
            <a:ext cx="4572000" cy="304800"/>
          </a:xfrm>
          <a:prstGeom prst="rect">
            <a:avLst/>
          </a:prstGeom>
        </p:spPr>
        <p:txBody>
          <a:bodyPr lIns="0" tIns="0" rIns="0" bIns="0"/>
          <a:lstStyle/>
          <a:p>
            <a:pPr>
              <a:buNone/>
              <a:defRPr sz="1275" b="1">
                <a:solidFill>
                  <a:srgbClr val="207E81"/>
                </a:solidFill>
                <a:latin typeface="Arial"/>
                <a:ea typeface="Arial"/>
                <a:cs typeface="Arial"/>
              </a:defRPr>
            </a:pPr>
            <a:r>
              <a:t>DETERMINISTIC</a:t>
            </a:r>
          </a:p>
        </p:txBody>
      </p:sp>
      <p:sp>
        <p:nvSpPr>
          <p:cNvPr id="18" name="text-47">
            <a:extLst>
              <a:ext uri="{FF2B5EF4-FFF2-40B4-BE49-F238E27FC236}">
                <a16:creationId xmlns:a16="http://schemas.microsoft.com/office/drawing/2014/main" id="{4EABDB51-3DAB-4340-BB41-19A01EB32074}"/>
              </a:ext>
            </a:extLst>
          </p:cNvPr>
          <p:cNvSpPr>
            <a:spLocks noGrp="1"/>
          </p:cNvSpPr>
          <p:nvPr/>
        </p:nvSpPr>
        <p:spPr>
          <a:xfrm>
            <a:off x="628650" y="4676775"/>
            <a:ext cx="4953000" cy="428625"/>
          </a:xfrm>
          <a:prstGeom prst="rect">
            <a:avLst/>
          </a:prstGeom>
        </p:spPr>
        <p:txBody>
          <a:bodyPr lIns="0" tIns="0" rIns="0" bIns="0"/>
          <a:lstStyle/>
          <a:p>
            <a:pPr>
              <a:buNone/>
              <a:defRPr sz="1950" b="0">
                <a:solidFill>
                  <a:srgbClr val="182C32"/>
                </a:solidFill>
                <a:latin typeface="Arial"/>
                <a:ea typeface="Arial"/>
                <a:cs typeface="Arial"/>
              </a:defRPr>
            </a:pPr>
            <a:r>
              <a:t>One forecast; weighted RMSE</a:t>
            </a:r>
          </a:p>
        </p:txBody>
      </p:sp>
      <p:sp>
        <p:nvSpPr>
          <p:cNvPr id="19" name="text-48">
            <a:extLst>
              <a:ext uri="{FF2B5EF4-FFF2-40B4-BE49-F238E27FC236}">
                <a16:creationId xmlns:a16="http://schemas.microsoft.com/office/drawing/2014/main" id="{654FECB6-F823-48D0-A34D-724E3B837F06}"/>
              </a:ext>
            </a:extLst>
          </p:cNvPr>
          <p:cNvSpPr>
            <a:spLocks noGrp="1"/>
          </p:cNvSpPr>
          <p:nvPr/>
        </p:nvSpPr>
        <p:spPr>
          <a:xfrm>
            <a:off x="6438900" y="4286250"/>
            <a:ext cx="4667250" cy="304800"/>
          </a:xfrm>
          <a:prstGeom prst="rect">
            <a:avLst/>
          </a:prstGeom>
        </p:spPr>
        <p:txBody>
          <a:bodyPr lIns="0" tIns="0" rIns="0" bIns="0"/>
          <a:lstStyle/>
          <a:p>
            <a:pPr>
              <a:buNone/>
              <a:defRPr sz="1275" b="1">
                <a:solidFill>
                  <a:srgbClr val="B85C38"/>
                </a:solidFill>
                <a:latin typeface="Arial"/>
                <a:ea typeface="Arial"/>
                <a:cs typeface="Arial"/>
              </a:defRPr>
            </a:pPr>
            <a:r>
              <a:t>PROBABILISTIC</a:t>
            </a:r>
          </a:p>
        </p:txBody>
      </p:sp>
      <p:sp>
        <p:nvSpPr>
          <p:cNvPr id="20" name="text-49">
            <a:extLst>
              <a:ext uri="{FF2B5EF4-FFF2-40B4-BE49-F238E27FC236}">
                <a16:creationId xmlns:a16="http://schemas.microsoft.com/office/drawing/2014/main" id="{EEB78678-BE10-4E8B-8C0D-02379742491D}"/>
              </a:ext>
            </a:extLst>
          </p:cNvPr>
          <p:cNvSpPr>
            <a:spLocks noGrp="1"/>
          </p:cNvSpPr>
          <p:nvPr/>
        </p:nvSpPr>
        <p:spPr>
          <a:xfrm>
            <a:off x="6438900" y="4676775"/>
            <a:ext cx="4953000" cy="428625"/>
          </a:xfrm>
          <a:prstGeom prst="rect">
            <a:avLst/>
          </a:prstGeom>
        </p:spPr>
        <p:txBody>
          <a:bodyPr lIns="0" tIns="0" rIns="0" bIns="0"/>
          <a:lstStyle/>
          <a:p>
            <a:pPr>
              <a:buNone/>
              <a:defRPr sz="1950" b="0">
                <a:solidFill>
                  <a:srgbClr val="182C32"/>
                </a:solidFill>
                <a:latin typeface="Arial"/>
                <a:ea typeface="Arial"/>
                <a:cs typeface="Arial"/>
              </a:defRPr>
            </a:pPr>
            <a:r>
              <a:t>MC-dropout samples; training using CRPS</a:t>
            </a:r>
          </a:p>
        </p:txBody>
      </p:sp>
      <p:sp>
        <p:nvSpPr>
          <p:cNvPr id="21" name="text-50">
            <a:extLst>
              <a:ext uri="{FF2B5EF4-FFF2-40B4-BE49-F238E27FC236}">
                <a16:creationId xmlns:a16="http://schemas.microsoft.com/office/drawing/2014/main" id="{6A62CC8B-5BB6-4D1D-BA4B-7757E0768E24}"/>
              </a:ext>
            </a:extLst>
          </p:cNvPr>
          <p:cNvSpPr>
            <a:spLocks noGrp="1"/>
          </p:cNvSpPr>
          <p:nvPr/>
        </p:nvSpPr>
        <p:spPr>
          <a:xfrm>
            <a:off x="628650" y="5562600"/>
            <a:ext cx="1381125" cy="266700"/>
          </a:xfrm>
          <a:prstGeom prst="rect">
            <a:avLst/>
          </a:prstGeom>
        </p:spPr>
        <p:txBody>
          <a:bodyPr lIns="0" tIns="0" rIns="0" bIns="0"/>
          <a:lstStyle/>
          <a:p>
            <a:pPr>
              <a:buNone/>
              <a:defRPr sz="1050" b="1">
                <a:solidFill>
                  <a:srgbClr val="207E81"/>
                </a:solidFill>
                <a:latin typeface="Arial"/>
                <a:ea typeface="Arial"/>
                <a:cs typeface="Arial"/>
              </a:defRPr>
            </a:pPr>
            <a:r>
              <a:t>QUESTION</a:t>
            </a:r>
          </a:p>
        </p:txBody>
      </p:sp>
      <p:sp>
        <p:nvSpPr>
          <p:cNvPr id="22" name="text-51">
            <a:extLst>
              <a:ext uri="{FF2B5EF4-FFF2-40B4-BE49-F238E27FC236}">
                <a16:creationId xmlns:a16="http://schemas.microsoft.com/office/drawing/2014/main" id="{10A7AE18-2D28-4601-8172-D72E296ECF1E}"/>
              </a:ext>
            </a:extLst>
          </p:cNvPr>
          <p:cNvSpPr>
            <a:spLocks noGrp="1"/>
          </p:cNvSpPr>
          <p:nvPr/>
        </p:nvSpPr>
        <p:spPr>
          <a:xfrm>
            <a:off x="2095500" y="5543550"/>
            <a:ext cx="9239250" cy="647700"/>
          </a:xfrm>
          <a:prstGeom prst="rect">
            <a:avLst/>
          </a:prstGeom>
        </p:spPr>
        <p:txBody>
          <a:bodyPr lIns="0" tIns="0" rIns="0" bIns="0"/>
          <a:lstStyle/>
          <a:p>
            <a:pPr>
              <a:buNone/>
              <a:defRPr sz="1725" b="0">
                <a:solidFill>
                  <a:srgbClr val="182C32"/>
                </a:solidFill>
                <a:latin typeface="Arial"/>
                <a:ea typeface="Arial"/>
                <a:cs typeface="Arial"/>
              </a:defRPr>
            </a:pPr>
            <a:r>
              <a:rPr dirty="0"/>
              <a:t>Do</a:t>
            </a:r>
            <a:r>
              <a:rPr lang="en-GB" dirty="0"/>
              <a:t> </a:t>
            </a:r>
            <a:r>
              <a:rPr dirty="0"/>
              <a:t>attacks behave differently </a:t>
            </a:r>
            <a:r>
              <a:rPr lang="en-GB" dirty="0"/>
              <a:t>for deterministic and probabilistic</a:t>
            </a:r>
            <a:r>
              <a:rPr dirty="0"/>
              <a:t> forecast?</a:t>
            </a:r>
          </a:p>
        </p:txBody>
      </p:sp>
    </p:spTree>
    <p:extLst>
      <p:ext uri="{BB962C8B-B14F-4D97-AF65-F5344CB8AC3E}">
        <p14:creationId xmlns:p14="http://schemas.microsoft.com/office/powerpoint/2010/main" val="80015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7" name="kicker-marker">
            <a:extLst>
              <a:ext uri="{FF2B5EF4-FFF2-40B4-BE49-F238E27FC236}">
                <a16:creationId xmlns:a16="http://schemas.microsoft.com/office/drawing/2014/main" id="{2D29492B-3E6A-492F-86CA-D0BFBCF3CD04}"/>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6F6F8AA4-89B6-4551-AF57-AD8F7C1CACB0}"/>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BEYOND 30 DAYS</a:t>
            </a:r>
          </a:p>
        </p:txBody>
      </p:sp>
      <p:sp>
        <p:nvSpPr>
          <p:cNvPr id="3" name="text-52">
            <a:extLst>
              <a:ext uri="{FF2B5EF4-FFF2-40B4-BE49-F238E27FC236}">
                <a16:creationId xmlns:a16="http://schemas.microsoft.com/office/drawing/2014/main" id="{662C2842-3008-4ADD-9FE4-468820A468F8}"/>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t>The same input gradients can reduce or increase error</a:t>
            </a:r>
          </a:p>
        </p:txBody>
      </p:sp>
      <p:sp>
        <p:nvSpPr>
          <p:cNvPr id="4" name="shape-53">
            <a:extLst>
              <a:ext uri="{FF2B5EF4-FFF2-40B4-BE49-F238E27FC236}">
                <a16:creationId xmlns:a16="http://schemas.microsoft.com/office/drawing/2014/main" id="{D99A526C-7ACB-41EF-BD9F-1E3CD31FEB38}"/>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54">
            <a:extLst>
              <a:ext uri="{FF2B5EF4-FFF2-40B4-BE49-F238E27FC236}">
                <a16:creationId xmlns:a16="http://schemas.microsoft.com/office/drawing/2014/main" id="{3B085D81-2661-4606-BBCE-2F0D09903BA3}"/>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Atmospheric Predictability Beyond 30 Days with Machine Learning • arxiv.org/abs/2504.20238</a:t>
            </a:r>
          </a:p>
        </p:txBody>
      </p:sp>
      <p:sp>
        <p:nvSpPr>
          <p:cNvPr id="6" name="text-55">
            <a:extLst>
              <a:ext uri="{FF2B5EF4-FFF2-40B4-BE49-F238E27FC236}">
                <a16:creationId xmlns:a16="http://schemas.microsoft.com/office/drawing/2014/main" id="{B4226075-419D-402E-8089-448DC2D72ED6}"/>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03</a:t>
            </a:r>
          </a:p>
        </p:txBody>
      </p:sp>
      <p:sp>
        <p:nvSpPr>
          <p:cNvPr id="7" name="text-56">
            <a:extLst>
              <a:ext uri="{FF2B5EF4-FFF2-40B4-BE49-F238E27FC236}">
                <a16:creationId xmlns:a16="http://schemas.microsoft.com/office/drawing/2014/main" id="{5D62CEFA-8628-47FA-B485-DABA32A9E048}"/>
              </a:ext>
            </a:extLst>
          </p:cNvPr>
          <p:cNvSpPr>
            <a:spLocks noGrp="1"/>
          </p:cNvSpPr>
          <p:nvPr/>
        </p:nvSpPr>
        <p:spPr>
          <a:xfrm>
            <a:off x="628650" y="2019300"/>
            <a:ext cx="10858500" cy="285750"/>
          </a:xfrm>
          <a:prstGeom prst="rect">
            <a:avLst/>
          </a:prstGeom>
        </p:spPr>
        <p:txBody>
          <a:bodyPr lIns="0" tIns="0" rIns="0" bIns="0"/>
          <a:lstStyle/>
          <a:p>
            <a:pPr>
              <a:buNone/>
              <a:defRPr sz="1275" b="1">
                <a:solidFill>
                  <a:srgbClr val="207E81"/>
                </a:solidFill>
                <a:latin typeface="Arial"/>
                <a:ea typeface="Arial"/>
                <a:cs typeface="Arial"/>
              </a:defRPr>
            </a:pPr>
            <a:r>
              <a:t>DETERMINISTIC GRAPHCAST • PROCESSED ERA5 • WEIGHTS FIXED</a:t>
            </a:r>
          </a:p>
        </p:txBody>
      </p:sp>
      <p:sp>
        <p:nvSpPr>
          <p:cNvPr id="8" name="text-57">
            <a:extLst>
              <a:ext uri="{FF2B5EF4-FFF2-40B4-BE49-F238E27FC236}">
                <a16:creationId xmlns:a16="http://schemas.microsoft.com/office/drawing/2014/main" id="{21BC7B07-5D3D-4D4A-B5F1-1F427A70A103}"/>
              </a:ext>
            </a:extLst>
          </p:cNvPr>
          <p:cNvSpPr>
            <a:spLocks noGrp="1"/>
          </p:cNvSpPr>
          <p:nvPr/>
        </p:nvSpPr>
        <p:spPr>
          <a:xfrm>
            <a:off x="628650" y="2657475"/>
            <a:ext cx="4572000" cy="409575"/>
          </a:xfrm>
          <a:prstGeom prst="rect">
            <a:avLst/>
          </a:prstGeom>
        </p:spPr>
        <p:txBody>
          <a:bodyPr lIns="0" tIns="0" rIns="0" bIns="0"/>
          <a:lstStyle/>
          <a:p>
            <a:pPr>
              <a:buNone/>
              <a:defRPr sz="2250" b="1">
                <a:solidFill>
                  <a:srgbClr val="182C32"/>
                </a:solidFill>
                <a:latin typeface="Arial"/>
                <a:ea typeface="Arial"/>
                <a:cs typeface="Arial"/>
              </a:defRPr>
            </a:pPr>
            <a:r>
              <a:t>Their study</a:t>
            </a:r>
          </a:p>
        </p:txBody>
      </p:sp>
      <p:sp>
        <p:nvSpPr>
          <p:cNvPr id="9" name="text-58">
            <a:extLst>
              <a:ext uri="{FF2B5EF4-FFF2-40B4-BE49-F238E27FC236}">
                <a16:creationId xmlns:a16="http://schemas.microsoft.com/office/drawing/2014/main" id="{33F9B638-3345-462A-A328-38D68048CB50}"/>
              </a:ext>
            </a:extLst>
          </p:cNvPr>
          <p:cNvSpPr>
            <a:spLocks noGrp="1"/>
          </p:cNvSpPr>
          <p:nvPr/>
        </p:nvSpPr>
        <p:spPr>
          <a:xfrm>
            <a:off x="628650" y="3181350"/>
            <a:ext cx="4953000" cy="885825"/>
          </a:xfrm>
          <a:prstGeom prst="rect">
            <a:avLst/>
          </a:prstGeom>
        </p:spPr>
        <p:txBody>
          <a:bodyPr lIns="0" tIns="0" rIns="0" bIns="0"/>
          <a:lstStyle/>
          <a:p>
            <a:pPr>
              <a:buNone/>
              <a:defRPr sz="2100" b="0">
                <a:solidFill>
                  <a:srgbClr val="182C32"/>
                </a:solidFill>
                <a:latin typeface="Arial"/>
                <a:ea typeface="Arial"/>
                <a:cs typeface="Arial"/>
              </a:defRPr>
            </a:pPr>
            <a:r>
              <a:t>Adjust two ERA5 states to reduce later forecast error.</a:t>
            </a:r>
          </a:p>
        </p:txBody>
      </p:sp>
      <p:sp>
        <p:nvSpPr>
          <p:cNvPr id="10" name="text-59">
            <a:extLst>
              <a:ext uri="{FF2B5EF4-FFF2-40B4-BE49-F238E27FC236}">
                <a16:creationId xmlns:a16="http://schemas.microsoft.com/office/drawing/2014/main" id="{A911349F-1626-4EC4-BD53-9415C28E2C5A}"/>
              </a:ext>
            </a:extLst>
          </p:cNvPr>
          <p:cNvSpPr>
            <a:spLocks noGrp="1"/>
          </p:cNvSpPr>
          <p:nvPr/>
        </p:nvSpPr>
        <p:spPr>
          <a:xfrm>
            <a:off x="6438900" y="2657475"/>
            <a:ext cx="4572000" cy="409575"/>
          </a:xfrm>
          <a:prstGeom prst="rect">
            <a:avLst/>
          </a:prstGeom>
        </p:spPr>
        <p:txBody>
          <a:bodyPr lIns="0" tIns="0" rIns="0" bIns="0"/>
          <a:lstStyle/>
          <a:p>
            <a:pPr>
              <a:buNone/>
              <a:defRPr sz="2250" b="1">
                <a:solidFill>
                  <a:srgbClr val="B85C38"/>
                </a:solidFill>
                <a:latin typeface="Arial"/>
                <a:ea typeface="Arial"/>
                <a:cs typeface="Arial"/>
              </a:defRPr>
            </a:pPr>
            <a:r>
              <a:t>Our project</a:t>
            </a:r>
          </a:p>
        </p:txBody>
      </p:sp>
      <p:sp>
        <p:nvSpPr>
          <p:cNvPr id="11" name="text-60">
            <a:extLst>
              <a:ext uri="{FF2B5EF4-FFF2-40B4-BE49-F238E27FC236}">
                <a16:creationId xmlns:a16="http://schemas.microsoft.com/office/drawing/2014/main" id="{1A336B26-C2F9-48FE-B9D8-3A459C113EE1}"/>
              </a:ext>
            </a:extLst>
          </p:cNvPr>
          <p:cNvSpPr>
            <a:spLocks noGrp="1"/>
          </p:cNvSpPr>
          <p:nvPr/>
        </p:nvSpPr>
        <p:spPr>
          <a:xfrm>
            <a:off x="6438900" y="3181350"/>
            <a:ext cx="4953000" cy="885825"/>
          </a:xfrm>
          <a:prstGeom prst="rect">
            <a:avLst/>
          </a:prstGeom>
        </p:spPr>
        <p:txBody>
          <a:bodyPr lIns="0" tIns="0" rIns="0" bIns="0"/>
          <a:lstStyle/>
          <a:p>
            <a:pPr>
              <a:buNone/>
              <a:defRPr sz="2100" b="0">
                <a:solidFill>
                  <a:srgbClr val="182C32"/>
                </a:solidFill>
                <a:latin typeface="Arial"/>
                <a:ea typeface="Arial"/>
                <a:cs typeface="Arial"/>
              </a:defRPr>
            </a:pPr>
            <a:r>
              <a:t>Adjust allowed inputs to increase forecast error.</a:t>
            </a:r>
          </a:p>
        </p:txBody>
      </p:sp>
      <p:sp>
        <p:nvSpPr>
          <p:cNvPr id="12" name="shape-61">
            <a:extLst>
              <a:ext uri="{FF2B5EF4-FFF2-40B4-BE49-F238E27FC236}">
                <a16:creationId xmlns:a16="http://schemas.microsoft.com/office/drawing/2014/main" id="{57A96922-292A-4C91-B358-7D9C29779F72}"/>
              </a:ext>
            </a:extLst>
          </p:cNvPr>
          <p:cNvSpPr>
            <a:spLocks noGrp="1"/>
          </p:cNvSpPr>
          <p:nvPr/>
        </p:nvSpPr>
        <p:spPr>
          <a:xfrm>
            <a:off x="628650" y="4248150"/>
            <a:ext cx="10934700" cy="9525"/>
          </a:xfrm>
          <a:prstGeom prst="rect">
            <a:avLst/>
          </a:prstGeom>
          <a:solidFill>
            <a:srgbClr val="D1D7D4"/>
          </a:solidFill>
          <a:ln w="0">
            <a:solidFill>
              <a:srgbClr val="D1D7D4"/>
            </a:solidFill>
            <a:prstDash val="solid"/>
          </a:ln>
        </p:spPr>
        <p:txBody>
          <a:bodyPr/>
          <a:lstStyle/>
          <a:p>
            <a:endParaRPr/>
          </a:p>
        </p:txBody>
      </p:sp>
      <p:sp>
        <p:nvSpPr>
          <p:cNvPr id="13" name="text-62">
            <a:extLst>
              <a:ext uri="{FF2B5EF4-FFF2-40B4-BE49-F238E27FC236}">
                <a16:creationId xmlns:a16="http://schemas.microsoft.com/office/drawing/2014/main" id="{CC1C8DAA-83A3-4EA8-9FFE-F05F38D8DFAC}"/>
              </a:ext>
            </a:extLst>
          </p:cNvPr>
          <p:cNvSpPr>
            <a:spLocks noGrp="1"/>
          </p:cNvSpPr>
          <p:nvPr/>
        </p:nvSpPr>
        <p:spPr>
          <a:xfrm>
            <a:off x="628650" y="4448175"/>
            <a:ext cx="4572000" cy="342900"/>
          </a:xfrm>
          <a:prstGeom prst="rect">
            <a:avLst/>
          </a:prstGeom>
        </p:spPr>
        <p:txBody>
          <a:bodyPr lIns="0" tIns="0" rIns="0" bIns="0"/>
          <a:lstStyle/>
          <a:p>
            <a:pPr>
              <a:buNone/>
              <a:defRPr sz="1650" b="0">
                <a:solidFill>
                  <a:srgbClr val="5C6C70"/>
                </a:solidFill>
                <a:latin typeface="Arial"/>
                <a:ea typeface="Arial"/>
                <a:cs typeface="Arial"/>
              </a:defRPr>
            </a:pPr>
            <a:r>
              <a:t>Growing optimisation window</a:t>
            </a:r>
          </a:p>
        </p:txBody>
      </p:sp>
      <p:sp>
        <p:nvSpPr>
          <p:cNvPr id="14" name="text-63">
            <a:extLst>
              <a:ext uri="{FF2B5EF4-FFF2-40B4-BE49-F238E27FC236}">
                <a16:creationId xmlns:a16="http://schemas.microsoft.com/office/drawing/2014/main" id="{0CBAFA62-0D4E-4F93-B8CA-BC89A724F22B}"/>
              </a:ext>
            </a:extLst>
          </p:cNvPr>
          <p:cNvSpPr>
            <a:spLocks noGrp="1"/>
          </p:cNvSpPr>
          <p:nvPr/>
        </p:nvSpPr>
        <p:spPr>
          <a:xfrm>
            <a:off x="628650" y="4905375"/>
            <a:ext cx="10477500" cy="495300"/>
          </a:xfrm>
          <a:prstGeom prst="rect">
            <a:avLst/>
          </a:prstGeom>
        </p:spPr>
        <p:txBody>
          <a:bodyPr lIns="0" tIns="0" rIns="0" bIns="0"/>
          <a:lstStyle/>
          <a:p>
            <a:pPr>
              <a:buNone/>
              <a:defRPr sz="2550" b="1">
                <a:solidFill>
                  <a:srgbClr val="207E81"/>
                </a:solidFill>
                <a:latin typeface="Arial"/>
                <a:ea typeface="Arial"/>
                <a:cs typeface="Arial"/>
              </a:defRPr>
            </a:pPr>
            <a:r>
              <a:t>2 days  →  5 days  →  8 days  →  …</a:t>
            </a:r>
          </a:p>
        </p:txBody>
      </p:sp>
      <p:sp>
        <p:nvSpPr>
          <p:cNvPr id="15" name="text-64">
            <a:extLst>
              <a:ext uri="{FF2B5EF4-FFF2-40B4-BE49-F238E27FC236}">
                <a16:creationId xmlns:a16="http://schemas.microsoft.com/office/drawing/2014/main" id="{2355CCA6-3BF3-4732-9D7E-58D5EA90DA4A}"/>
              </a:ext>
            </a:extLst>
          </p:cNvPr>
          <p:cNvSpPr>
            <a:spLocks noGrp="1"/>
          </p:cNvSpPr>
          <p:nvPr/>
        </p:nvSpPr>
        <p:spPr>
          <a:xfrm>
            <a:off x="628650" y="5562600"/>
            <a:ext cx="1381125" cy="266700"/>
          </a:xfrm>
          <a:prstGeom prst="rect">
            <a:avLst/>
          </a:prstGeom>
        </p:spPr>
        <p:txBody>
          <a:bodyPr lIns="0" tIns="0" rIns="0" bIns="0"/>
          <a:lstStyle/>
          <a:p>
            <a:pPr>
              <a:buNone/>
              <a:defRPr sz="1050" b="1">
                <a:solidFill>
                  <a:srgbClr val="207E81"/>
                </a:solidFill>
                <a:latin typeface="Arial"/>
                <a:ea typeface="Arial"/>
                <a:cs typeface="Arial"/>
              </a:defRPr>
            </a:pPr>
            <a:r>
              <a:t>QUESTION</a:t>
            </a:r>
          </a:p>
        </p:txBody>
      </p:sp>
      <p:sp>
        <p:nvSpPr>
          <p:cNvPr id="16" name="text-65">
            <a:extLst>
              <a:ext uri="{FF2B5EF4-FFF2-40B4-BE49-F238E27FC236}">
                <a16:creationId xmlns:a16="http://schemas.microsoft.com/office/drawing/2014/main" id="{4137A67D-937A-46C8-BFC1-AC1285A5B0E0}"/>
              </a:ext>
            </a:extLst>
          </p:cNvPr>
          <p:cNvSpPr>
            <a:spLocks noGrp="1"/>
          </p:cNvSpPr>
          <p:nvPr/>
        </p:nvSpPr>
        <p:spPr>
          <a:xfrm>
            <a:off x="2095500" y="5543550"/>
            <a:ext cx="9239250" cy="647700"/>
          </a:xfrm>
          <a:prstGeom prst="rect">
            <a:avLst/>
          </a:prstGeom>
        </p:spPr>
        <p:txBody>
          <a:bodyPr lIns="0" tIns="0" rIns="0" bIns="0"/>
          <a:lstStyle/>
          <a:p>
            <a:pPr>
              <a:buNone/>
              <a:defRPr sz="1725" b="0">
                <a:solidFill>
                  <a:srgbClr val="182C32"/>
                </a:solidFill>
                <a:latin typeface="Arial"/>
                <a:ea typeface="Arial"/>
                <a:cs typeface="Arial"/>
              </a:defRPr>
            </a:pPr>
            <a:r>
              <a:rPr dirty="0"/>
              <a:t>How does attack damage grow beyond one six-hour step?</a:t>
            </a:r>
          </a:p>
        </p:txBody>
      </p:sp>
    </p:spTree>
    <p:extLst>
      <p:ext uri="{BB962C8B-B14F-4D97-AF65-F5344CB8AC3E}">
        <p14:creationId xmlns:p14="http://schemas.microsoft.com/office/powerpoint/2010/main" val="29450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9" name="kicker-marker">
            <a:extLst>
              <a:ext uri="{FF2B5EF4-FFF2-40B4-BE49-F238E27FC236}">
                <a16:creationId xmlns:a16="http://schemas.microsoft.com/office/drawing/2014/main" id="{5589D9C7-5C20-4000-A2B4-09C25AE3961D}"/>
              </a:ext>
            </a:extLst>
          </p:cNvPr>
          <p:cNvSpPr>
            <a:spLocks noGrp="1"/>
          </p:cNvSpPr>
          <p:nvPr/>
        </p:nvSpPr>
        <p:spPr>
          <a:xfrm>
            <a:off x="628650" y="400050"/>
            <a:ext cx="57150" cy="57150"/>
          </a:xfrm>
          <a:prstGeom prst="rect">
            <a:avLst/>
          </a:prstGeom>
          <a:solidFill>
            <a:srgbClr val="566F69"/>
          </a:solidFill>
          <a:ln w="0">
            <a:solidFill>
              <a:srgbClr val="566F69"/>
            </a:solidFill>
            <a:prstDash val="solid"/>
          </a:ln>
        </p:spPr>
        <p:txBody>
          <a:bodyPr/>
          <a:lstStyle/>
          <a:p>
            <a:endParaRPr/>
          </a:p>
        </p:txBody>
      </p:sp>
      <p:sp>
        <p:nvSpPr>
          <p:cNvPr id="2" name="kicker-label">
            <a:extLst>
              <a:ext uri="{FF2B5EF4-FFF2-40B4-BE49-F238E27FC236}">
                <a16:creationId xmlns:a16="http://schemas.microsoft.com/office/drawing/2014/main" id="{13EDF574-7C19-43D1-85E3-B51C681076D9}"/>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566F69"/>
                </a:solidFill>
                <a:latin typeface="Arial"/>
                <a:ea typeface="Arial"/>
                <a:cs typeface="Arial"/>
              </a:defRPr>
            </a:pPr>
            <a:r>
              <a:t>ADVERSARIAL OBSERVATIONS</a:t>
            </a:r>
          </a:p>
        </p:txBody>
      </p:sp>
      <p:sp>
        <p:nvSpPr>
          <p:cNvPr id="3" name="text-66">
            <a:extLst>
              <a:ext uri="{FF2B5EF4-FFF2-40B4-BE49-F238E27FC236}">
                <a16:creationId xmlns:a16="http://schemas.microsoft.com/office/drawing/2014/main" id="{CBA6F355-7C92-4B70-96C4-8B4A2D1A69D7}"/>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rPr dirty="0"/>
              <a:t>Approximate gradients can target </a:t>
            </a:r>
            <a:r>
              <a:rPr lang="en-GB" dirty="0"/>
              <a:t>diffusion </a:t>
            </a:r>
            <a:r>
              <a:rPr dirty="0"/>
              <a:t>probabilistic forecasts</a:t>
            </a:r>
          </a:p>
        </p:txBody>
      </p:sp>
      <p:sp>
        <p:nvSpPr>
          <p:cNvPr id="4" name="shape-67">
            <a:extLst>
              <a:ext uri="{FF2B5EF4-FFF2-40B4-BE49-F238E27FC236}">
                <a16:creationId xmlns:a16="http://schemas.microsoft.com/office/drawing/2014/main" id="{FACFDD01-05A3-4C3C-B47E-ED9C2FE452A1}"/>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68">
            <a:extLst>
              <a:ext uri="{FF2B5EF4-FFF2-40B4-BE49-F238E27FC236}">
                <a16:creationId xmlns:a16="http://schemas.microsoft.com/office/drawing/2014/main" id="{1A9F31B9-3312-41BD-8A2C-C35ED9B6E70A}"/>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Adversarial Observations in Weather Forecasting • arxiv.org/abs/2504.15942</a:t>
            </a:r>
          </a:p>
        </p:txBody>
      </p:sp>
      <p:sp>
        <p:nvSpPr>
          <p:cNvPr id="6" name="text-69">
            <a:extLst>
              <a:ext uri="{FF2B5EF4-FFF2-40B4-BE49-F238E27FC236}">
                <a16:creationId xmlns:a16="http://schemas.microsoft.com/office/drawing/2014/main" id="{B4A0A1CD-9895-44E4-993C-C4D4D1387B0E}"/>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04</a:t>
            </a:r>
          </a:p>
        </p:txBody>
      </p:sp>
      <p:sp>
        <p:nvSpPr>
          <p:cNvPr id="7" name="text-70">
            <a:extLst>
              <a:ext uri="{FF2B5EF4-FFF2-40B4-BE49-F238E27FC236}">
                <a16:creationId xmlns:a16="http://schemas.microsoft.com/office/drawing/2014/main" id="{5D1894B3-71D2-4FC8-94FA-084F363C0096}"/>
              </a:ext>
            </a:extLst>
          </p:cNvPr>
          <p:cNvSpPr>
            <a:spLocks noGrp="1"/>
          </p:cNvSpPr>
          <p:nvPr/>
        </p:nvSpPr>
        <p:spPr>
          <a:xfrm>
            <a:off x="628650" y="1971675"/>
            <a:ext cx="10858500" cy="333375"/>
          </a:xfrm>
          <a:prstGeom prst="rect">
            <a:avLst/>
          </a:prstGeom>
        </p:spPr>
        <p:txBody>
          <a:bodyPr lIns="0" tIns="0" rIns="0" bIns="0"/>
          <a:lstStyle/>
          <a:p>
            <a:pPr>
              <a:buNone/>
              <a:defRPr sz="2025" b="0">
                <a:solidFill>
                  <a:srgbClr val="566F69"/>
                </a:solidFill>
                <a:latin typeface="Arial"/>
                <a:ea typeface="Arial"/>
                <a:cs typeface="Arial"/>
              </a:defRPr>
            </a:pPr>
            <a:r>
              <a:rPr sz="1875" b="0" dirty="0">
                <a:solidFill>
                  <a:srgbClr val="566F69"/>
                </a:solidFill>
                <a:latin typeface="Arial"/>
                <a:ea typeface="Arial"/>
                <a:cs typeface="Arial"/>
              </a:rPr>
              <a:t>Choose a region, then </a:t>
            </a:r>
            <a:r>
              <a:rPr sz="1875" b="0" dirty="0" err="1">
                <a:solidFill>
                  <a:srgbClr val="566F69"/>
                </a:solidFill>
                <a:latin typeface="Arial"/>
                <a:ea typeface="Arial"/>
                <a:cs typeface="Arial"/>
              </a:rPr>
              <a:t>optimise</a:t>
            </a:r>
            <a:r>
              <a:rPr sz="1875" b="0" dirty="0">
                <a:solidFill>
                  <a:srgbClr val="566F69"/>
                </a:solidFill>
                <a:latin typeface="Arial"/>
                <a:ea typeface="Arial"/>
                <a:cs typeface="Arial"/>
              </a:rPr>
              <a:t> its forecast towards the desired outcome.</a:t>
            </a:r>
          </a:p>
        </p:txBody>
      </p:sp>
      <p:sp>
        <p:nvSpPr>
          <p:cNvPr id="8" name="text-71">
            <a:extLst>
              <a:ext uri="{FF2B5EF4-FFF2-40B4-BE49-F238E27FC236}">
                <a16:creationId xmlns:a16="http://schemas.microsoft.com/office/drawing/2014/main" id="{95EC1B55-A9F3-4EC3-810F-22BE06FAD75B}"/>
              </a:ext>
            </a:extLst>
          </p:cNvPr>
          <p:cNvSpPr>
            <a:spLocks noGrp="1"/>
          </p:cNvSpPr>
          <p:nvPr/>
        </p:nvSpPr>
        <p:spPr>
          <a:xfrm>
            <a:off x="628650" y="2857500"/>
            <a:ext cx="2381250" cy="333375"/>
          </a:xfrm>
          <a:prstGeom prst="rect">
            <a:avLst/>
          </a:prstGeom>
        </p:spPr>
        <p:txBody>
          <a:bodyPr lIns="0" tIns="0" rIns="0" bIns="0"/>
          <a:lstStyle/>
          <a:p>
            <a:pPr>
              <a:buNone/>
              <a:defRPr sz="1500" b="1">
                <a:solidFill>
                  <a:srgbClr val="566F69"/>
                </a:solidFill>
                <a:latin typeface="Arial"/>
                <a:ea typeface="Arial"/>
                <a:cs typeface="Arial"/>
              </a:defRPr>
            </a:pPr>
            <a:r>
              <a:t>FABRICATE</a:t>
            </a:r>
          </a:p>
        </p:txBody>
      </p:sp>
      <p:sp>
        <p:nvSpPr>
          <p:cNvPr id="9" name="text-72">
            <a:extLst>
              <a:ext uri="{FF2B5EF4-FFF2-40B4-BE49-F238E27FC236}">
                <a16:creationId xmlns:a16="http://schemas.microsoft.com/office/drawing/2014/main" id="{5A11D283-B36C-43BA-AC59-EE5513B84A60}"/>
              </a:ext>
            </a:extLst>
          </p:cNvPr>
          <p:cNvSpPr>
            <a:spLocks noGrp="1"/>
          </p:cNvSpPr>
          <p:nvPr/>
        </p:nvSpPr>
        <p:spPr>
          <a:xfrm>
            <a:off x="3333750" y="2828925"/>
            <a:ext cx="7810500" cy="323850"/>
          </a:xfrm>
          <a:prstGeom prst="rect">
            <a:avLst/>
          </a:prstGeom>
        </p:spPr>
        <p:txBody>
          <a:bodyPr lIns="0" tIns="0" rIns="0" bIns="0"/>
          <a:lstStyle/>
          <a:p>
            <a:pPr>
              <a:buNone/>
              <a:defRPr sz="2250" b="0">
                <a:solidFill>
                  <a:srgbClr val="182C32"/>
                </a:solidFill>
                <a:latin typeface="Arial"/>
                <a:ea typeface="Arial"/>
                <a:cs typeface="Arial"/>
              </a:defRPr>
            </a:pPr>
            <a:r>
              <a:rPr sz="1875" b="0" dirty="0" err="1">
                <a:solidFill>
                  <a:srgbClr val="182C32"/>
                </a:solidFill>
                <a:latin typeface="Arial"/>
                <a:ea typeface="Arial"/>
                <a:cs typeface="Arial"/>
              </a:rPr>
              <a:t>Maximise</a:t>
            </a:r>
            <a:r>
              <a:rPr sz="1875" b="0" dirty="0">
                <a:solidFill>
                  <a:srgbClr val="182C32"/>
                </a:solidFill>
                <a:latin typeface="Arial"/>
                <a:ea typeface="Arial"/>
                <a:cs typeface="Arial"/>
              </a:rPr>
              <a:t> regional wind speed, temperature or rainfall.</a:t>
            </a:r>
          </a:p>
        </p:txBody>
      </p:sp>
      <p:sp>
        <p:nvSpPr>
          <p:cNvPr id="10" name="shape-73">
            <a:extLst>
              <a:ext uri="{FF2B5EF4-FFF2-40B4-BE49-F238E27FC236}">
                <a16:creationId xmlns:a16="http://schemas.microsoft.com/office/drawing/2014/main" id="{50874932-AE70-4D1A-A584-3081A88B85DC}"/>
              </a:ext>
            </a:extLst>
          </p:cNvPr>
          <p:cNvSpPr>
            <a:spLocks noGrp="1"/>
          </p:cNvSpPr>
          <p:nvPr/>
        </p:nvSpPr>
        <p:spPr>
          <a:xfrm>
            <a:off x="628650" y="3390900"/>
            <a:ext cx="10934700" cy="9525"/>
          </a:xfrm>
          <a:prstGeom prst="rect">
            <a:avLst/>
          </a:prstGeom>
          <a:solidFill>
            <a:srgbClr val="D1D7D4"/>
          </a:solidFill>
          <a:ln w="0">
            <a:solidFill>
              <a:srgbClr val="D1D7D4"/>
            </a:solidFill>
            <a:prstDash val="solid"/>
          </a:ln>
        </p:spPr>
        <p:txBody>
          <a:bodyPr/>
          <a:lstStyle/>
          <a:p>
            <a:endParaRPr/>
          </a:p>
        </p:txBody>
      </p:sp>
      <p:sp>
        <p:nvSpPr>
          <p:cNvPr id="11" name="text-74">
            <a:extLst>
              <a:ext uri="{FF2B5EF4-FFF2-40B4-BE49-F238E27FC236}">
                <a16:creationId xmlns:a16="http://schemas.microsoft.com/office/drawing/2014/main" id="{E6ACB25A-51D7-442F-89D8-B316877E32B0}"/>
              </a:ext>
            </a:extLst>
          </p:cNvPr>
          <p:cNvSpPr>
            <a:spLocks noGrp="1"/>
          </p:cNvSpPr>
          <p:nvPr/>
        </p:nvSpPr>
        <p:spPr>
          <a:xfrm>
            <a:off x="628650" y="3619500"/>
            <a:ext cx="2381250" cy="333375"/>
          </a:xfrm>
          <a:prstGeom prst="rect">
            <a:avLst/>
          </a:prstGeom>
        </p:spPr>
        <p:txBody>
          <a:bodyPr lIns="0" tIns="0" rIns="0" bIns="0"/>
          <a:lstStyle/>
          <a:p>
            <a:pPr>
              <a:buNone/>
              <a:defRPr sz="1500" b="1">
                <a:solidFill>
                  <a:srgbClr val="566F69"/>
                </a:solidFill>
                <a:latin typeface="Arial"/>
                <a:ea typeface="Arial"/>
                <a:cs typeface="Arial"/>
              </a:defRPr>
            </a:pPr>
            <a:r>
              <a:t>CONCEAL</a:t>
            </a:r>
          </a:p>
        </p:txBody>
      </p:sp>
      <p:sp>
        <p:nvSpPr>
          <p:cNvPr id="12" name="text-75">
            <a:extLst>
              <a:ext uri="{FF2B5EF4-FFF2-40B4-BE49-F238E27FC236}">
                <a16:creationId xmlns:a16="http://schemas.microsoft.com/office/drawing/2014/main" id="{78B7F03A-CEF3-4014-B4E3-930925E5A8BC}"/>
              </a:ext>
            </a:extLst>
          </p:cNvPr>
          <p:cNvSpPr>
            <a:spLocks noGrp="1"/>
          </p:cNvSpPr>
          <p:nvPr/>
        </p:nvSpPr>
        <p:spPr>
          <a:xfrm>
            <a:off x="3333750" y="3590925"/>
            <a:ext cx="7810500" cy="323850"/>
          </a:xfrm>
          <a:prstGeom prst="rect">
            <a:avLst/>
          </a:prstGeom>
        </p:spPr>
        <p:txBody>
          <a:bodyPr lIns="0" tIns="0" rIns="0" bIns="0"/>
          <a:lstStyle/>
          <a:p>
            <a:pPr>
              <a:buNone/>
              <a:defRPr sz="2250" b="0">
                <a:solidFill>
                  <a:srgbClr val="182C32"/>
                </a:solidFill>
                <a:latin typeface="Arial"/>
                <a:ea typeface="Arial"/>
                <a:cs typeface="Arial"/>
              </a:defRPr>
            </a:pPr>
            <a:r>
              <a:rPr sz="1875" b="0" dirty="0" err="1">
                <a:solidFill>
                  <a:srgbClr val="182C32"/>
                </a:solidFill>
                <a:latin typeface="Arial"/>
                <a:ea typeface="Arial"/>
                <a:cs typeface="Arial"/>
              </a:rPr>
              <a:t>Minimise</a:t>
            </a:r>
            <a:r>
              <a:rPr sz="1875" b="0" dirty="0">
                <a:solidFill>
                  <a:srgbClr val="182C32"/>
                </a:solidFill>
                <a:latin typeface="Arial"/>
                <a:ea typeface="Arial"/>
                <a:cs typeface="Arial"/>
              </a:rPr>
              <a:t> rainfall for a cyclone, or temperature for a heatwave.</a:t>
            </a:r>
          </a:p>
        </p:txBody>
      </p:sp>
      <p:sp>
        <p:nvSpPr>
          <p:cNvPr id="13" name="shape-76">
            <a:extLst>
              <a:ext uri="{FF2B5EF4-FFF2-40B4-BE49-F238E27FC236}">
                <a16:creationId xmlns:a16="http://schemas.microsoft.com/office/drawing/2014/main" id="{0C9A1176-E72E-4036-A66B-D5363D9F7CAB}"/>
              </a:ext>
            </a:extLst>
          </p:cNvPr>
          <p:cNvSpPr>
            <a:spLocks noGrp="1"/>
          </p:cNvSpPr>
          <p:nvPr/>
        </p:nvSpPr>
        <p:spPr>
          <a:xfrm>
            <a:off x="628650" y="4152900"/>
            <a:ext cx="10934700" cy="9525"/>
          </a:xfrm>
          <a:prstGeom prst="rect">
            <a:avLst/>
          </a:prstGeom>
          <a:solidFill>
            <a:srgbClr val="D1D7D4"/>
          </a:solidFill>
          <a:ln w="0">
            <a:solidFill>
              <a:srgbClr val="D1D7D4"/>
            </a:solidFill>
            <a:prstDash val="solid"/>
          </a:ln>
        </p:spPr>
        <p:txBody>
          <a:bodyPr/>
          <a:lstStyle/>
          <a:p>
            <a:endParaRPr/>
          </a:p>
        </p:txBody>
      </p:sp>
      <p:sp>
        <p:nvSpPr>
          <p:cNvPr id="14" name="text-77">
            <a:extLst>
              <a:ext uri="{FF2B5EF4-FFF2-40B4-BE49-F238E27FC236}">
                <a16:creationId xmlns:a16="http://schemas.microsoft.com/office/drawing/2014/main" id="{A4BC63C2-B964-47B9-B5B4-9AB339468D0C}"/>
              </a:ext>
            </a:extLst>
          </p:cNvPr>
          <p:cNvSpPr>
            <a:spLocks noGrp="1"/>
          </p:cNvSpPr>
          <p:nvPr/>
        </p:nvSpPr>
        <p:spPr>
          <a:xfrm>
            <a:off x="628650" y="4381500"/>
            <a:ext cx="2381250" cy="333375"/>
          </a:xfrm>
          <a:prstGeom prst="rect">
            <a:avLst/>
          </a:prstGeom>
        </p:spPr>
        <p:txBody>
          <a:bodyPr lIns="0" tIns="0" rIns="0" bIns="0"/>
          <a:lstStyle/>
          <a:p>
            <a:pPr>
              <a:buNone/>
              <a:defRPr sz="1500" b="1">
                <a:solidFill>
                  <a:srgbClr val="566F69"/>
                </a:solidFill>
                <a:latin typeface="Arial"/>
                <a:ea typeface="Arial"/>
                <a:cs typeface="Arial"/>
              </a:defRPr>
            </a:pPr>
            <a:r>
              <a:t>REDIRECT</a:t>
            </a:r>
          </a:p>
        </p:txBody>
      </p:sp>
      <p:sp>
        <p:nvSpPr>
          <p:cNvPr id="15" name="text-78">
            <a:extLst>
              <a:ext uri="{FF2B5EF4-FFF2-40B4-BE49-F238E27FC236}">
                <a16:creationId xmlns:a16="http://schemas.microsoft.com/office/drawing/2014/main" id="{66C5F317-7BD7-4BD6-A594-DCB6CABD764F}"/>
              </a:ext>
            </a:extLst>
          </p:cNvPr>
          <p:cNvSpPr>
            <a:spLocks noGrp="1"/>
          </p:cNvSpPr>
          <p:nvPr/>
        </p:nvSpPr>
        <p:spPr>
          <a:xfrm>
            <a:off x="3333750" y="4352925"/>
            <a:ext cx="7810500" cy="323850"/>
          </a:xfrm>
          <a:prstGeom prst="rect">
            <a:avLst/>
          </a:prstGeom>
        </p:spPr>
        <p:txBody>
          <a:bodyPr lIns="0" tIns="0" rIns="0" bIns="0"/>
          <a:lstStyle/>
          <a:p>
            <a:pPr>
              <a:buNone/>
              <a:defRPr sz="2250" b="0">
                <a:solidFill>
                  <a:srgbClr val="182C32"/>
                </a:solidFill>
                <a:latin typeface="Arial"/>
                <a:ea typeface="Arial"/>
                <a:cs typeface="Arial"/>
              </a:defRPr>
            </a:pPr>
            <a:r>
              <a:rPr sz="1875" b="0" dirty="0" err="1">
                <a:solidFill>
                  <a:srgbClr val="182C32"/>
                </a:solidFill>
                <a:latin typeface="Arial"/>
                <a:ea typeface="Arial"/>
                <a:cs typeface="Arial"/>
              </a:rPr>
              <a:t>Minimise</a:t>
            </a:r>
            <a:r>
              <a:rPr sz="1875" b="0" dirty="0">
                <a:solidFill>
                  <a:srgbClr val="182C32"/>
                </a:solidFill>
                <a:latin typeface="Arial"/>
                <a:ea typeface="Arial"/>
                <a:cs typeface="Arial"/>
              </a:rPr>
              <a:t>: wind at old landfall − wind at chosen landfall.</a:t>
            </a:r>
          </a:p>
        </p:txBody>
      </p:sp>
      <p:sp>
        <p:nvSpPr>
          <p:cNvPr id="16" name="shape-79">
            <a:extLst>
              <a:ext uri="{FF2B5EF4-FFF2-40B4-BE49-F238E27FC236}">
                <a16:creationId xmlns:a16="http://schemas.microsoft.com/office/drawing/2014/main" id="{678A089B-69A5-4493-8FDA-292A400F5B5F}"/>
              </a:ext>
            </a:extLst>
          </p:cNvPr>
          <p:cNvSpPr>
            <a:spLocks noGrp="1"/>
          </p:cNvSpPr>
          <p:nvPr/>
        </p:nvSpPr>
        <p:spPr>
          <a:xfrm>
            <a:off x="628650" y="4914900"/>
            <a:ext cx="10934700" cy="9525"/>
          </a:xfrm>
          <a:prstGeom prst="rect">
            <a:avLst/>
          </a:prstGeom>
          <a:solidFill>
            <a:srgbClr val="D1D7D4"/>
          </a:solidFill>
          <a:ln w="0">
            <a:solidFill>
              <a:srgbClr val="D1D7D4"/>
            </a:solidFill>
            <a:prstDash val="solid"/>
          </a:ln>
        </p:spPr>
        <p:txBody>
          <a:bodyPr/>
          <a:lstStyle/>
          <a:p>
            <a:endParaRPr/>
          </a:p>
        </p:txBody>
      </p:sp>
      <p:sp>
        <p:nvSpPr>
          <p:cNvPr id="20" name="sv-definition">
            <a:extLst>
              <a:ext uri="{FF2B5EF4-FFF2-40B4-BE49-F238E27FC236}">
                <a16:creationId xmlns:a16="http://schemas.microsoft.com/office/drawing/2014/main" id="{585F26F5-902D-4DA0-98F6-907B005FD892}"/>
              </a:ext>
            </a:extLst>
          </p:cNvPr>
          <p:cNvSpPr>
            <a:spLocks noGrp="1"/>
          </p:cNvSpPr>
          <p:nvPr/>
        </p:nvSpPr>
        <p:spPr>
          <a:xfrm>
            <a:off x="628650" y="2390775"/>
            <a:ext cx="10858500" cy="266700"/>
          </a:xfrm>
          <a:prstGeom prst="rect">
            <a:avLst/>
          </a:prstGeom>
        </p:spPr>
        <p:txBody>
          <a:bodyPr lIns="0" tIns="0" rIns="0" bIns="0"/>
          <a:lstStyle/>
          <a:p>
            <a:pPr>
              <a:defRPr sz="1575">
                <a:solidFill>
                  <a:srgbClr val="566F69"/>
                </a:solidFill>
                <a:latin typeface="Arial"/>
                <a:ea typeface="Arial"/>
                <a:cs typeface="Arial"/>
              </a:defRPr>
            </a:pPr>
            <a:r>
              <a:t>S selects the forecast region; V scores it. Minimise V(S(forecast)).</a:t>
            </a:r>
          </a:p>
        </p:txBody>
      </p:sp>
      <p:sp>
        <p:nvSpPr>
          <p:cNvPr id="21" name="sv-fabricate">
            <a:extLst>
              <a:ext uri="{FF2B5EF4-FFF2-40B4-BE49-F238E27FC236}">
                <a16:creationId xmlns:a16="http://schemas.microsoft.com/office/drawing/2014/main" id="{E4F4F144-FAA2-405F-B40E-19DB8F513B4C}"/>
              </a:ext>
            </a:extLst>
          </p:cNvPr>
          <p:cNvSpPr>
            <a:spLocks noGrp="1"/>
          </p:cNvSpPr>
          <p:nvPr/>
        </p:nvSpPr>
        <p:spPr>
          <a:xfrm>
            <a:off x="3333750" y="3162300"/>
            <a:ext cx="7810500" cy="247650"/>
          </a:xfrm>
          <a:prstGeom prst="rect">
            <a:avLst/>
          </a:prstGeom>
        </p:spPr>
        <p:txBody>
          <a:bodyPr lIns="0" tIns="0" rIns="0" bIns="0"/>
          <a:lstStyle/>
          <a:p>
            <a:pPr>
              <a:defRPr sz="1500">
                <a:solidFill>
                  <a:srgbClr val="5C6C70"/>
                </a:solidFill>
                <a:latin typeface="Arial"/>
                <a:ea typeface="Arial"/>
                <a:cs typeface="Arial"/>
              </a:defRPr>
            </a:pPr>
            <a:r>
              <a:rPr dirty="0"/>
              <a:t>S: London. V = −minimum wind speed across London.</a:t>
            </a:r>
          </a:p>
        </p:txBody>
      </p:sp>
      <p:sp>
        <p:nvSpPr>
          <p:cNvPr id="22" name="sv-conceal">
            <a:extLst>
              <a:ext uri="{FF2B5EF4-FFF2-40B4-BE49-F238E27FC236}">
                <a16:creationId xmlns:a16="http://schemas.microsoft.com/office/drawing/2014/main" id="{27AA4D9C-A980-416F-8343-91BE3EEE755C}"/>
              </a:ext>
            </a:extLst>
          </p:cNvPr>
          <p:cNvSpPr>
            <a:spLocks noGrp="1"/>
          </p:cNvSpPr>
          <p:nvPr/>
        </p:nvSpPr>
        <p:spPr>
          <a:xfrm>
            <a:off x="3333750" y="3924300"/>
            <a:ext cx="7810500" cy="247650"/>
          </a:xfrm>
          <a:prstGeom prst="rect">
            <a:avLst/>
          </a:prstGeom>
        </p:spPr>
        <p:txBody>
          <a:bodyPr lIns="0" tIns="0" rIns="0" bIns="0"/>
          <a:lstStyle/>
          <a:p>
            <a:pPr>
              <a:defRPr sz="1500">
                <a:solidFill>
                  <a:srgbClr val="5C6C70"/>
                </a:solidFill>
                <a:latin typeface="Arial"/>
                <a:ea typeface="Arial"/>
                <a:cs typeface="Arial"/>
              </a:defRPr>
            </a:pPr>
            <a:r>
              <a:rPr dirty="0"/>
              <a:t>S: cyclone region. V = mean predicted rainfall there.</a:t>
            </a:r>
          </a:p>
        </p:txBody>
      </p:sp>
      <p:sp>
        <p:nvSpPr>
          <p:cNvPr id="23" name="sv-redirect">
            <a:extLst>
              <a:ext uri="{FF2B5EF4-FFF2-40B4-BE49-F238E27FC236}">
                <a16:creationId xmlns:a16="http://schemas.microsoft.com/office/drawing/2014/main" id="{6893BB31-89E3-4B92-A74B-288C386B1DFF}"/>
              </a:ext>
            </a:extLst>
          </p:cNvPr>
          <p:cNvSpPr>
            <a:spLocks noGrp="1"/>
          </p:cNvSpPr>
          <p:nvPr/>
        </p:nvSpPr>
        <p:spPr>
          <a:xfrm>
            <a:off x="3333750" y="4686300"/>
            <a:ext cx="7810500" cy="247650"/>
          </a:xfrm>
          <a:prstGeom prst="rect">
            <a:avLst/>
          </a:prstGeom>
        </p:spPr>
        <p:txBody>
          <a:bodyPr lIns="0" tIns="0" rIns="0" bIns="0"/>
          <a:lstStyle/>
          <a:p>
            <a:pPr>
              <a:defRPr sz="1500">
                <a:solidFill>
                  <a:srgbClr val="5C6C70"/>
                </a:solidFill>
                <a:latin typeface="Arial"/>
                <a:ea typeface="Arial"/>
                <a:cs typeface="Arial"/>
              </a:defRPr>
            </a:pPr>
            <a:r>
              <a:t>S: old + chosen landfall. V = wind(old) − wind(chosen).</a:t>
            </a:r>
          </a:p>
        </p:txBody>
      </p:sp>
      <p:sp>
        <p:nvSpPr>
          <p:cNvPr id="24" name="sv-anomaly">
            <a:extLst>
              <a:ext uri="{FF2B5EF4-FFF2-40B4-BE49-F238E27FC236}">
                <a16:creationId xmlns:a16="http://schemas.microsoft.com/office/drawing/2014/main" id="{47217452-7A19-4C63-AA78-21F4D534489C}"/>
              </a:ext>
            </a:extLst>
          </p:cNvPr>
          <p:cNvSpPr>
            <a:spLocks noGrp="1"/>
          </p:cNvSpPr>
          <p:nvPr/>
        </p:nvSpPr>
        <p:spPr>
          <a:xfrm>
            <a:off x="628650" y="5172075"/>
            <a:ext cx="10858500" cy="266700"/>
          </a:xfrm>
          <a:prstGeom prst="rect">
            <a:avLst/>
          </a:prstGeom>
        </p:spPr>
        <p:txBody>
          <a:bodyPr lIns="0" tIns="0" rIns="0" bIns="0"/>
          <a:lstStyle/>
          <a:p>
            <a:pPr>
              <a:defRPr sz="1575">
                <a:solidFill>
                  <a:srgbClr val="566F69"/>
                </a:solidFill>
                <a:latin typeface="Arial"/>
                <a:ea typeface="Arial"/>
                <a:cs typeface="Arial"/>
              </a:defRPr>
            </a:pPr>
            <a:r>
              <a:t>Extreme-event anomalies: deviations from local seasonal expectations; 99th-percentile threshold.</a:t>
            </a:r>
          </a:p>
        </p:txBody>
      </p:sp>
      <p:sp>
        <p:nvSpPr>
          <p:cNvPr id="25" name="noise-model">
            <a:extLst>
              <a:ext uri="{FF2B5EF4-FFF2-40B4-BE49-F238E27FC236}">
                <a16:creationId xmlns:a16="http://schemas.microsoft.com/office/drawing/2014/main" id="{2618093A-1377-40B9-8164-332764207AB4}"/>
              </a:ext>
            </a:extLst>
          </p:cNvPr>
          <p:cNvSpPr>
            <a:spLocks noGrp="1"/>
          </p:cNvSpPr>
          <p:nvPr/>
        </p:nvSpPr>
        <p:spPr>
          <a:xfrm>
            <a:off x="628650" y="5514975"/>
            <a:ext cx="10858500" cy="247650"/>
          </a:xfrm>
          <a:prstGeom prst="rect">
            <a:avLst/>
          </a:prstGeom>
        </p:spPr>
        <p:txBody>
          <a:bodyPr lIns="0" tIns="0" rIns="0" bIns="0"/>
          <a:lstStyle/>
          <a:p>
            <a:pPr>
              <a:defRPr sz="1500">
                <a:solidFill>
                  <a:srgbClr val="5C6C70"/>
                </a:solidFill>
                <a:latin typeface="Arial"/>
                <a:ea typeface="Arial"/>
                <a:cs typeface="Arial"/>
              </a:defRPr>
            </a:pPr>
            <a:r>
              <a:t>Detection (§5): assimilated grid = true state + background noise + attack change.</a:t>
            </a:r>
          </a:p>
        </p:txBody>
      </p:sp>
      <p:sp>
        <p:nvSpPr>
          <p:cNvPr id="26" name="noise-test">
            <a:extLst>
              <a:ext uri="{FF2B5EF4-FFF2-40B4-BE49-F238E27FC236}">
                <a16:creationId xmlns:a16="http://schemas.microsoft.com/office/drawing/2014/main" id="{EA7B62AE-8473-4B5C-B440-31F264A818C7}"/>
              </a:ext>
            </a:extLst>
          </p:cNvPr>
          <p:cNvSpPr>
            <a:spLocks noGrp="1"/>
          </p:cNvSpPr>
          <p:nvPr/>
        </p:nvSpPr>
        <p:spPr>
          <a:xfrm>
            <a:off x="628650" y="5800725"/>
            <a:ext cx="10858500" cy="247650"/>
          </a:xfrm>
          <a:prstGeom prst="rect">
            <a:avLst/>
          </a:prstGeom>
        </p:spPr>
        <p:txBody>
          <a:bodyPr lIns="0" tIns="0" rIns="0" bIns="0"/>
          <a:lstStyle/>
          <a:p>
            <a:pPr>
              <a:defRPr sz="1500">
                <a:solidFill>
                  <a:srgbClr val="5C6C70"/>
                </a:solidFill>
                <a:latin typeface="Arial"/>
                <a:ea typeface="Arial"/>
                <a:cs typeface="Arial"/>
              </a:defRPr>
            </a:pPr>
            <a:r>
              <a:t>Assumed independent Gaussian terms: variance σᵦ² + ε²; χ² tests against known σᵦ².</a:t>
            </a:r>
          </a:p>
        </p:txBody>
      </p:sp>
    </p:spTree>
    <p:extLst>
      <p:ext uri="{BB962C8B-B14F-4D97-AF65-F5344CB8AC3E}">
        <p14:creationId xmlns:p14="http://schemas.microsoft.com/office/powerpoint/2010/main" val="1539982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4" name="kicker-marker">
            <a:extLst>
              <a:ext uri="{FF2B5EF4-FFF2-40B4-BE49-F238E27FC236}">
                <a16:creationId xmlns:a16="http://schemas.microsoft.com/office/drawing/2014/main" id="{381423CE-67D9-49EF-80F4-79736BE7C4B2}"/>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9A72519E-3162-495A-9D17-8445EFDC4620}"/>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FABLE</a:t>
            </a:r>
          </a:p>
        </p:txBody>
      </p:sp>
      <p:sp>
        <p:nvSpPr>
          <p:cNvPr id="3" name="text-82">
            <a:extLst>
              <a:ext uri="{FF2B5EF4-FFF2-40B4-BE49-F238E27FC236}">
                <a16:creationId xmlns:a16="http://schemas.microsoft.com/office/drawing/2014/main" id="{80690F5A-4558-494B-81C5-DA9AFEFBCCCE}"/>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rPr dirty="0"/>
              <a:t>Target local forecast changes through wavelet penalties</a:t>
            </a:r>
          </a:p>
        </p:txBody>
      </p:sp>
      <p:sp>
        <p:nvSpPr>
          <p:cNvPr id="4" name="shape-83">
            <a:extLst>
              <a:ext uri="{FF2B5EF4-FFF2-40B4-BE49-F238E27FC236}">
                <a16:creationId xmlns:a16="http://schemas.microsoft.com/office/drawing/2014/main" id="{4FB3DB27-0F14-4C94-807C-69EDE8AF27CA}"/>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84">
            <a:extLst>
              <a:ext uri="{FF2B5EF4-FFF2-40B4-BE49-F238E27FC236}">
                <a16:creationId xmlns:a16="http://schemas.microsoft.com/office/drawing/2014/main" id="{F566058F-5141-4F60-BAD1-0F5D8365173B}"/>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FABLE: A Localized, Targeted Adversarial Attack on Weather Forecasting Models • arxiv.org/abs/2505.12167v2</a:t>
            </a:r>
          </a:p>
        </p:txBody>
      </p:sp>
      <p:sp>
        <p:nvSpPr>
          <p:cNvPr id="6" name="text-85">
            <a:extLst>
              <a:ext uri="{FF2B5EF4-FFF2-40B4-BE49-F238E27FC236}">
                <a16:creationId xmlns:a16="http://schemas.microsoft.com/office/drawing/2014/main" id="{2AAAB610-27E1-4DAF-B9E2-F8F90A2C3A32}"/>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05</a:t>
            </a:r>
          </a:p>
        </p:txBody>
      </p:sp>
      <p:sp>
        <p:nvSpPr>
          <p:cNvPr id="7" name="text-86">
            <a:extLst>
              <a:ext uri="{FF2B5EF4-FFF2-40B4-BE49-F238E27FC236}">
                <a16:creationId xmlns:a16="http://schemas.microsoft.com/office/drawing/2014/main" id="{F7A84331-F868-4E93-9201-C2CB9DC74912}"/>
              </a:ext>
            </a:extLst>
          </p:cNvPr>
          <p:cNvSpPr>
            <a:spLocks noGrp="1"/>
          </p:cNvSpPr>
          <p:nvPr/>
        </p:nvSpPr>
        <p:spPr>
          <a:xfrm>
            <a:off x="628650" y="1952625"/>
            <a:ext cx="10858500" cy="342900"/>
          </a:xfrm>
          <a:prstGeom prst="rect">
            <a:avLst/>
          </a:prstGeom>
        </p:spPr>
        <p:txBody>
          <a:bodyPr lIns="0" tIns="0" rIns="0" bIns="0"/>
          <a:lstStyle/>
          <a:p>
            <a:pPr>
              <a:buNone/>
              <a:defRPr sz="1950" b="0">
                <a:solidFill>
                  <a:srgbClr val="5C6C70"/>
                </a:solidFill>
                <a:latin typeface="Arial"/>
                <a:ea typeface="Arial"/>
                <a:cs typeface="Arial"/>
              </a:defRPr>
            </a:pPr>
            <a:r>
              <a:t>Desired effect: match a regional target; preserve forecasts elsewhere.</a:t>
            </a:r>
          </a:p>
        </p:txBody>
      </p:sp>
      <p:sp>
        <p:nvSpPr>
          <p:cNvPr id="8" name="text-87">
            <a:extLst>
              <a:ext uri="{FF2B5EF4-FFF2-40B4-BE49-F238E27FC236}">
                <a16:creationId xmlns:a16="http://schemas.microsoft.com/office/drawing/2014/main" id="{76984E0E-F527-4D37-8EEF-743E5626EC62}"/>
              </a:ext>
            </a:extLst>
          </p:cNvPr>
          <p:cNvSpPr>
            <a:spLocks noGrp="1"/>
          </p:cNvSpPr>
          <p:nvPr/>
        </p:nvSpPr>
        <p:spPr>
          <a:xfrm>
            <a:off x="628650" y="2362200"/>
            <a:ext cx="10858500" cy="266700"/>
          </a:xfrm>
          <a:prstGeom prst="rect">
            <a:avLst/>
          </a:prstGeom>
        </p:spPr>
        <p:txBody>
          <a:bodyPr lIns="0" tIns="0" rIns="0" bIns="0"/>
          <a:lstStyle/>
          <a:p>
            <a:pPr>
              <a:buNone/>
              <a:defRPr sz="1350" b="0">
                <a:solidFill>
                  <a:srgbClr val="5C6C70"/>
                </a:solidFill>
                <a:latin typeface="Arial"/>
                <a:ea typeface="Arial"/>
                <a:cs typeface="Arial"/>
              </a:defRPr>
            </a:pPr>
            <a:r>
              <a:t>Deterministic CLCRN / adapted FourCastNet • processed gridded inputs</a:t>
            </a:r>
          </a:p>
        </p:txBody>
      </p:sp>
      <p:sp>
        <p:nvSpPr>
          <p:cNvPr id="25" name="haar-label">
            <a:extLst>
              <a:ext uri="{FF2B5EF4-FFF2-40B4-BE49-F238E27FC236}">
                <a16:creationId xmlns:a16="http://schemas.microsoft.com/office/drawing/2014/main" id="{A3105962-BDD3-4C52-B554-969DCFF11954}"/>
              </a:ext>
            </a:extLst>
          </p:cNvPr>
          <p:cNvSpPr>
            <a:spLocks noGrp="1"/>
          </p:cNvSpPr>
          <p:nvPr/>
        </p:nvSpPr>
        <p:spPr>
          <a:xfrm>
            <a:off x="628650" y="2743200"/>
            <a:ext cx="10934700" cy="247650"/>
          </a:xfrm>
          <a:prstGeom prst="rect">
            <a:avLst/>
          </a:prstGeom>
        </p:spPr>
        <p:txBody>
          <a:bodyPr lIns="0" tIns="0" rIns="0" bIns="0"/>
          <a:lstStyle/>
          <a:p>
            <a:pPr>
              <a:defRPr sz="1275" b="1">
                <a:solidFill>
                  <a:srgbClr val="207E81"/>
                </a:solidFill>
                <a:latin typeface="Arial"/>
                <a:ea typeface="Arial"/>
                <a:cs typeface="Arial"/>
              </a:defRPr>
            </a:pPr>
            <a:r>
              <a:t>1D HAAR EXAMPLE • L = LOW; H = HIGH (FABLE USES TIME + TWO SPATIAL AXES)</a:t>
            </a:r>
          </a:p>
        </p:txBody>
      </p:sp>
      <p:sp>
        <p:nvSpPr>
          <p:cNvPr id="26" name="haar-example">
            <a:extLst>
              <a:ext uri="{FF2B5EF4-FFF2-40B4-BE49-F238E27FC236}">
                <a16:creationId xmlns:a16="http://schemas.microsoft.com/office/drawing/2014/main" id="{45C82F87-936F-4139-9A47-2934708B9C93}"/>
              </a:ext>
            </a:extLst>
          </p:cNvPr>
          <p:cNvSpPr>
            <a:spLocks noGrp="1"/>
          </p:cNvSpPr>
          <p:nvPr/>
        </p:nvSpPr>
        <p:spPr>
          <a:xfrm>
            <a:off x="628650" y="3057525"/>
            <a:ext cx="10934700" cy="361950"/>
          </a:xfrm>
          <a:prstGeom prst="rect">
            <a:avLst/>
          </a:prstGeom>
        </p:spPr>
        <p:txBody>
          <a:bodyPr lIns="0" tIns="0" rIns="0" bIns="0"/>
          <a:lstStyle/>
          <a:p>
            <a:pPr>
              <a:defRPr sz="2025" b="0">
                <a:solidFill>
                  <a:srgbClr val="182C32"/>
                </a:solidFill>
                <a:latin typeface="Arial"/>
                <a:ea typeface="Arial"/>
                <a:cs typeface="Arial"/>
              </a:defRPr>
            </a:pPr>
            <a:r>
              <a:t>[2, 4] → L = (2 + 4)/√2, H = (2 − 4)/√2 → [2, 4]</a:t>
            </a:r>
          </a:p>
        </p:txBody>
      </p:sp>
      <p:sp>
        <p:nvSpPr>
          <p:cNvPr id="27" name="fable-objective">
            <a:extLst>
              <a:ext uri="{FF2B5EF4-FFF2-40B4-BE49-F238E27FC236}">
                <a16:creationId xmlns:a16="http://schemas.microsoft.com/office/drawing/2014/main" id="{C6B21A5A-AA94-4D53-849A-C78DA7C90C03}"/>
              </a:ext>
            </a:extLst>
          </p:cNvPr>
          <p:cNvSpPr>
            <a:spLocks noGrp="1"/>
          </p:cNvSpPr>
          <p:nvPr/>
        </p:nvSpPr>
        <p:spPr>
          <a:xfrm>
            <a:off x="628650" y="3552825"/>
            <a:ext cx="10934700" cy="409575"/>
          </a:xfrm>
          <a:prstGeom prst="rect">
            <a:avLst/>
          </a:prstGeom>
        </p:spPr>
        <p:txBody>
          <a:bodyPr lIns="0" tIns="0" rIns="0" bIns="0"/>
          <a:lstStyle/>
          <a:p>
            <a:pPr>
              <a:defRPr sz="2175" b="1">
                <a:solidFill>
                  <a:srgbClr val="207E81"/>
                </a:solidFill>
                <a:latin typeface="Arial"/>
                <a:ea typeface="Arial"/>
                <a:cs typeface="Arial"/>
              </a:defRPr>
            </a:pPr>
            <a:r>
              <a:rPr sz="2175" baseline="0"/>
              <a:t>Minimise: RMSE(target, forecast) + λ ∑</a:t>
            </a:r>
            <a:r>
              <a:rPr sz="1450" baseline="-25000"/>
              <a:t>f</a:t>
            </a:r>
            <a:r>
              <a:rPr sz="2175" baseline="0"/>
              <a:t> ω</a:t>
            </a:r>
            <a:r>
              <a:rPr sz="1450" baseline="-25000"/>
              <a:t>f</a:t>
            </a:r>
            <a:r>
              <a:rPr sz="2175" baseline="0"/>
              <a:t> ‖C′</a:t>
            </a:r>
            <a:r>
              <a:rPr sz="1450" baseline="-25000"/>
              <a:t>f</a:t>
            </a:r>
            <a:r>
              <a:rPr sz="2175" baseline="0"/>
              <a:t> − C</a:t>
            </a:r>
            <a:r>
              <a:rPr sz="1450" baseline="-25000"/>
              <a:t>f</a:t>
            </a:r>
            <a:r>
              <a:rPr sz="2175" baseline="0"/>
              <a:t>‖</a:t>
            </a:r>
            <a:r>
              <a:rPr sz="1450" baseline="-25000"/>
              <a:t>2</a:t>
            </a:r>
          </a:p>
        </p:txBody>
      </p:sp>
      <p:sp>
        <p:nvSpPr>
          <p:cNvPr id="28" name="faith-label">
            <a:extLst>
              <a:ext uri="{FF2B5EF4-FFF2-40B4-BE49-F238E27FC236}">
                <a16:creationId xmlns:a16="http://schemas.microsoft.com/office/drawing/2014/main" id="{B3C4ABC8-DD1C-40AA-B511-DE4B195748E9}"/>
              </a:ext>
            </a:extLst>
          </p:cNvPr>
          <p:cNvSpPr>
            <a:spLocks noGrp="1"/>
          </p:cNvSpPr>
          <p:nvPr/>
        </p:nvSpPr>
        <p:spPr>
          <a:xfrm>
            <a:off x="628650" y="4086225"/>
            <a:ext cx="5238750" cy="266700"/>
          </a:xfrm>
          <a:prstGeom prst="rect">
            <a:avLst/>
          </a:prstGeom>
        </p:spPr>
        <p:txBody>
          <a:bodyPr lIns="0" tIns="0" rIns="0" bIns="0"/>
          <a:lstStyle/>
          <a:p>
            <a:pPr>
              <a:defRPr sz="1275" b="1">
                <a:solidFill>
                  <a:srgbClr val="207E81"/>
                </a:solidFill>
                <a:latin typeface="Arial"/>
                <a:ea typeface="Arial"/>
                <a:cs typeface="Arial"/>
              </a:defRPr>
            </a:pPr>
            <a:r>
              <a:t>FIRST TERM → FAITHFULNESS</a:t>
            </a:r>
          </a:p>
        </p:txBody>
      </p:sp>
      <p:sp>
        <p:nvSpPr>
          <p:cNvPr id="29" name="faith-text">
            <a:extLst>
              <a:ext uri="{FF2B5EF4-FFF2-40B4-BE49-F238E27FC236}">
                <a16:creationId xmlns:a16="http://schemas.microsoft.com/office/drawing/2014/main" id="{B0773344-5F22-4D30-9BC9-DD6A625F565F}"/>
              </a:ext>
            </a:extLst>
          </p:cNvPr>
          <p:cNvSpPr>
            <a:spLocks noGrp="1"/>
          </p:cNvSpPr>
          <p:nvPr/>
        </p:nvSpPr>
        <p:spPr>
          <a:xfrm>
            <a:off x="628650" y="4410075"/>
            <a:ext cx="5095875" cy="561975"/>
          </a:xfrm>
          <a:prstGeom prst="rect">
            <a:avLst/>
          </a:prstGeom>
        </p:spPr>
        <p:txBody>
          <a:bodyPr lIns="0" tIns="0" rIns="0" bIns="0"/>
          <a:lstStyle/>
          <a:p>
            <a:pPr>
              <a:defRPr sz="1725" b="0">
                <a:solidFill>
                  <a:srgbClr val="182C32"/>
                </a:solidFill>
                <a:latin typeface="Arial"/>
                <a:ea typeface="Arial"/>
                <a:cs typeface="Arial"/>
              </a:defRPr>
            </a:pPr>
            <a:r>
              <a:t>Match the regional target; preserve forecasts elsewhere.</a:t>
            </a:r>
          </a:p>
        </p:txBody>
      </p:sp>
      <p:sp>
        <p:nvSpPr>
          <p:cNvPr id="30" name="close-label">
            <a:extLst>
              <a:ext uri="{FF2B5EF4-FFF2-40B4-BE49-F238E27FC236}">
                <a16:creationId xmlns:a16="http://schemas.microsoft.com/office/drawing/2014/main" id="{53B6C235-EEED-4DCD-8280-471D2D5C0AE7}"/>
              </a:ext>
            </a:extLst>
          </p:cNvPr>
          <p:cNvSpPr>
            <a:spLocks noGrp="1"/>
          </p:cNvSpPr>
          <p:nvPr/>
        </p:nvSpPr>
        <p:spPr>
          <a:xfrm>
            <a:off x="6438900" y="4086225"/>
            <a:ext cx="5124450" cy="266700"/>
          </a:xfrm>
          <a:prstGeom prst="rect">
            <a:avLst/>
          </a:prstGeom>
        </p:spPr>
        <p:txBody>
          <a:bodyPr lIns="0" tIns="0" rIns="0" bIns="0"/>
          <a:lstStyle/>
          <a:p>
            <a:pPr>
              <a:defRPr sz="1275" b="1">
                <a:solidFill>
                  <a:srgbClr val="B85C38"/>
                </a:solidFill>
                <a:latin typeface="Arial"/>
                <a:ea typeface="Arial"/>
                <a:cs typeface="Arial"/>
              </a:defRPr>
            </a:pPr>
            <a:r>
              <a:t>SECOND TERM → CLOSENESS / REALISM</a:t>
            </a:r>
          </a:p>
        </p:txBody>
      </p:sp>
      <p:sp>
        <p:nvSpPr>
          <p:cNvPr id="31" name="close-text">
            <a:extLst>
              <a:ext uri="{FF2B5EF4-FFF2-40B4-BE49-F238E27FC236}">
                <a16:creationId xmlns:a16="http://schemas.microsoft.com/office/drawing/2014/main" id="{DBE223D3-8BF8-441A-96A4-9E54155433B9}"/>
              </a:ext>
            </a:extLst>
          </p:cNvPr>
          <p:cNvSpPr>
            <a:spLocks noGrp="1"/>
          </p:cNvSpPr>
          <p:nvPr/>
        </p:nvSpPr>
        <p:spPr>
          <a:xfrm>
            <a:off x="6438900" y="4410075"/>
            <a:ext cx="5124450" cy="561975"/>
          </a:xfrm>
          <a:prstGeom prst="rect">
            <a:avLst/>
          </a:prstGeom>
        </p:spPr>
        <p:txBody>
          <a:bodyPr lIns="0" tIns="0" rIns="0" bIns="0"/>
          <a:lstStyle/>
          <a:p>
            <a:pPr>
              <a:defRPr sz="1725" b="0">
                <a:solidFill>
                  <a:srgbClr val="182C32"/>
                </a:solidFill>
                <a:latin typeface="Arial"/>
                <a:ea typeface="Arial"/>
                <a:cs typeface="Arial"/>
              </a:defRPr>
            </a:pPr>
            <a:r>
              <a:t>Encourage spatial/temporal similarity via coefficient-change penalties.</a:t>
            </a:r>
          </a:p>
        </p:txBody>
      </p:sp>
      <p:sp>
        <p:nvSpPr>
          <p:cNvPr id="32" name="fable-rule">
            <a:extLst>
              <a:ext uri="{FF2B5EF4-FFF2-40B4-BE49-F238E27FC236}">
                <a16:creationId xmlns:a16="http://schemas.microsoft.com/office/drawing/2014/main" id="{C9FE4F6B-3C85-4E4C-8A95-5149F7BE897A}"/>
              </a:ext>
            </a:extLst>
          </p:cNvPr>
          <p:cNvSpPr>
            <a:spLocks noGrp="1"/>
          </p:cNvSpPr>
          <p:nvPr/>
        </p:nvSpPr>
        <p:spPr>
          <a:xfrm>
            <a:off x="628650" y="5029200"/>
            <a:ext cx="10934700" cy="9525"/>
          </a:xfrm>
          <a:prstGeom prst="rect">
            <a:avLst/>
          </a:prstGeom>
          <a:solidFill>
            <a:srgbClr val="D1D7D4"/>
          </a:solidFill>
          <a:ln w="0">
            <a:solidFill>
              <a:srgbClr val="D1D7D4"/>
            </a:solidFill>
            <a:prstDash val="solid"/>
          </a:ln>
        </p:spPr>
        <p:txBody>
          <a:bodyPr/>
          <a:lstStyle/>
          <a:p>
            <a:endParaRPr lang="zh-CN" altLang="en-US"/>
          </a:p>
        </p:txBody>
      </p:sp>
      <p:sp>
        <p:nvSpPr>
          <p:cNvPr id="33" name="lll-label">
            <a:extLst>
              <a:ext uri="{FF2B5EF4-FFF2-40B4-BE49-F238E27FC236}">
                <a16:creationId xmlns:a16="http://schemas.microsoft.com/office/drawing/2014/main" id="{F0183C50-CB5B-4796-AC46-8EF630109971}"/>
              </a:ext>
            </a:extLst>
          </p:cNvPr>
          <p:cNvSpPr>
            <a:spLocks noGrp="1"/>
          </p:cNvSpPr>
          <p:nvPr/>
        </p:nvSpPr>
        <p:spPr>
          <a:xfrm>
            <a:off x="628650" y="5181600"/>
            <a:ext cx="5191125" cy="295275"/>
          </a:xfrm>
          <a:prstGeom prst="rect">
            <a:avLst/>
          </a:prstGeom>
        </p:spPr>
        <p:txBody>
          <a:bodyPr lIns="0" tIns="0" rIns="0" bIns="0"/>
          <a:lstStyle/>
          <a:p>
            <a:pPr>
              <a:defRPr sz="1650" b="1">
                <a:solidFill>
                  <a:srgbClr val="182C32"/>
                </a:solidFill>
                <a:latin typeface="Arial"/>
                <a:ea typeface="Arial"/>
                <a:cs typeface="Arial"/>
              </a:defRPr>
            </a:pPr>
            <a:r>
              <a:rPr dirty="0"/>
              <a:t>LLL: broad spatial/temporal structure</a:t>
            </a:r>
          </a:p>
        </p:txBody>
      </p:sp>
      <p:sp>
        <p:nvSpPr>
          <p:cNvPr id="34" name="lll-weight">
            <a:extLst>
              <a:ext uri="{FF2B5EF4-FFF2-40B4-BE49-F238E27FC236}">
                <a16:creationId xmlns:a16="http://schemas.microsoft.com/office/drawing/2014/main" id="{13AFBBEF-F502-458D-9CA0-2C4D8D7B1AD4}"/>
              </a:ext>
            </a:extLst>
          </p:cNvPr>
          <p:cNvSpPr>
            <a:spLocks noGrp="1"/>
          </p:cNvSpPr>
          <p:nvPr/>
        </p:nvSpPr>
        <p:spPr>
          <a:xfrm>
            <a:off x="628650" y="5543550"/>
            <a:ext cx="5191125" cy="276225"/>
          </a:xfrm>
          <a:prstGeom prst="rect">
            <a:avLst/>
          </a:prstGeom>
        </p:spPr>
        <p:txBody>
          <a:bodyPr lIns="0" tIns="0" rIns="0" bIns="0"/>
          <a:lstStyle/>
          <a:p>
            <a:pPr>
              <a:defRPr sz="1500" b="0">
                <a:solidFill>
                  <a:srgbClr val="5C6C70"/>
                </a:solidFill>
                <a:latin typeface="Arial"/>
                <a:ea typeface="Arial"/>
                <a:cs typeface="Arial"/>
              </a:defRPr>
            </a:pPr>
            <a:r>
              <a:t>Example: large weight → resist changes here.</a:t>
            </a:r>
          </a:p>
        </p:txBody>
      </p:sp>
      <p:sp>
        <p:nvSpPr>
          <p:cNvPr id="35" name="hhh-label">
            <a:extLst>
              <a:ext uri="{FF2B5EF4-FFF2-40B4-BE49-F238E27FC236}">
                <a16:creationId xmlns:a16="http://schemas.microsoft.com/office/drawing/2014/main" id="{79D19500-EDF0-4074-BCA0-1127DF6C10BD}"/>
              </a:ext>
            </a:extLst>
          </p:cNvPr>
          <p:cNvSpPr>
            <a:spLocks noGrp="1"/>
          </p:cNvSpPr>
          <p:nvPr/>
        </p:nvSpPr>
        <p:spPr>
          <a:xfrm>
            <a:off x="6438900" y="5181600"/>
            <a:ext cx="5124450" cy="295275"/>
          </a:xfrm>
          <a:prstGeom prst="rect">
            <a:avLst/>
          </a:prstGeom>
        </p:spPr>
        <p:txBody>
          <a:bodyPr lIns="0" tIns="0" rIns="0" bIns="0"/>
          <a:lstStyle/>
          <a:p>
            <a:pPr>
              <a:defRPr sz="1650" b="1">
                <a:solidFill>
                  <a:srgbClr val="182C32"/>
                </a:solidFill>
                <a:latin typeface="Arial"/>
                <a:ea typeface="Arial"/>
                <a:cs typeface="Arial"/>
              </a:defRPr>
            </a:pPr>
            <a:r>
              <a:t>HHH: fine spatial/temporal differences</a:t>
            </a:r>
          </a:p>
        </p:txBody>
      </p:sp>
      <p:sp>
        <p:nvSpPr>
          <p:cNvPr id="36" name="hhh-weight">
            <a:extLst>
              <a:ext uri="{FF2B5EF4-FFF2-40B4-BE49-F238E27FC236}">
                <a16:creationId xmlns:a16="http://schemas.microsoft.com/office/drawing/2014/main" id="{F2C2C760-8ED8-42CD-9B53-669D39EE056E}"/>
              </a:ext>
            </a:extLst>
          </p:cNvPr>
          <p:cNvSpPr>
            <a:spLocks noGrp="1"/>
          </p:cNvSpPr>
          <p:nvPr/>
        </p:nvSpPr>
        <p:spPr>
          <a:xfrm>
            <a:off x="6438900" y="5543550"/>
            <a:ext cx="5124450" cy="276225"/>
          </a:xfrm>
          <a:prstGeom prst="rect">
            <a:avLst/>
          </a:prstGeom>
        </p:spPr>
        <p:txBody>
          <a:bodyPr lIns="0" tIns="0" rIns="0" bIns="0"/>
          <a:lstStyle/>
          <a:p>
            <a:pPr>
              <a:defRPr sz="1500" b="0">
                <a:solidFill>
                  <a:srgbClr val="5C6C70"/>
                </a:solidFill>
                <a:latin typeface="Arial"/>
                <a:ea typeface="Arial"/>
                <a:cs typeface="Arial"/>
              </a:defRPr>
            </a:pPr>
            <a:r>
              <a:t>Example: small weight → allow changes here.</a:t>
            </a:r>
          </a:p>
        </p:txBody>
      </p:sp>
      <p:sp>
        <p:nvSpPr>
          <p:cNvPr id="37" name="bound">
            <a:extLst>
              <a:ext uri="{FF2B5EF4-FFF2-40B4-BE49-F238E27FC236}">
                <a16:creationId xmlns:a16="http://schemas.microsoft.com/office/drawing/2014/main" id="{7ADFFF03-06BF-40E3-9191-B5D7127BE183}"/>
              </a:ext>
            </a:extLst>
          </p:cNvPr>
          <p:cNvSpPr>
            <a:spLocks noGrp="1"/>
          </p:cNvSpPr>
          <p:nvPr/>
        </p:nvSpPr>
        <p:spPr>
          <a:xfrm>
            <a:off x="628650" y="5895975"/>
            <a:ext cx="10934700" cy="295275"/>
          </a:xfrm>
          <a:prstGeom prst="rect">
            <a:avLst/>
          </a:prstGeom>
        </p:spPr>
        <p:txBody>
          <a:bodyPr lIns="0" tIns="0" rIns="0" bIns="0"/>
          <a:lstStyle/>
          <a:p>
            <a:pPr>
              <a:defRPr sz="1725" b="1">
                <a:solidFill>
                  <a:srgbClr val="207E81"/>
                </a:solidFill>
                <a:latin typeface="Arial"/>
                <a:ea typeface="Arial"/>
                <a:cs typeface="Arial"/>
              </a:defRPr>
            </a:pPr>
            <a:r>
              <a:t>Separate bound: ‖X′ − X‖∞ ≤ ε caps each input change.</a:t>
            </a:r>
          </a:p>
        </p:txBody>
      </p:sp>
    </p:spTree>
    <p:extLst>
      <p:ext uri="{BB962C8B-B14F-4D97-AF65-F5344CB8AC3E}">
        <p14:creationId xmlns:p14="http://schemas.microsoft.com/office/powerpoint/2010/main" val="2060023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0" name="kicker-marker">
            <a:extLst>
              <a:ext uri="{FF2B5EF4-FFF2-40B4-BE49-F238E27FC236}">
                <a16:creationId xmlns:a16="http://schemas.microsoft.com/office/drawing/2014/main" id="{FA87B34A-7BCB-4075-8AAA-E5C47D4F2CA6}"/>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14248650-405D-4E84-84F7-2A3E70142B9B}"/>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FORECASTING FAILS</a:t>
            </a:r>
          </a:p>
        </p:txBody>
      </p:sp>
      <p:sp>
        <p:nvSpPr>
          <p:cNvPr id="3" name="text-103">
            <a:extLst>
              <a:ext uri="{FF2B5EF4-FFF2-40B4-BE49-F238E27FC236}">
                <a16:creationId xmlns:a16="http://schemas.microsoft.com/office/drawing/2014/main" id="{928ECA51-BD3B-4B67-A9B6-142BDDAA4E14}"/>
              </a:ext>
            </a:extLst>
          </p:cNvPr>
          <p:cNvSpPr>
            <a:spLocks noGrp="1"/>
          </p:cNvSpPr>
          <p:nvPr/>
        </p:nvSpPr>
        <p:spPr>
          <a:xfrm>
            <a:off x="628650" y="790575"/>
            <a:ext cx="10953750" cy="904875"/>
          </a:xfrm>
          <a:prstGeom prst="rect">
            <a:avLst/>
          </a:prstGeom>
        </p:spPr>
        <p:txBody>
          <a:bodyPr lIns="0" tIns="0" rIns="0" bIns="0"/>
          <a:lstStyle/>
          <a:p>
            <a:pPr>
              <a:buNone/>
              <a:defRPr sz="3150" b="0">
                <a:solidFill>
                  <a:srgbClr val="182C32"/>
                </a:solidFill>
                <a:latin typeface="Georgia"/>
                <a:ea typeface="Georgia"/>
                <a:cs typeface="Georgia"/>
              </a:defRPr>
            </a:pPr>
            <a:r>
              <a:rPr lang="zh-CN" altLang="zh-CN" sz="3150" dirty="0">
                <a:solidFill>
                  <a:srgbClr val="182C32"/>
                </a:solidFill>
                <a:latin typeface="Georgia"/>
              </a:rPr>
              <a:t>Weather Adaptive Adversarial Perturbation Optimization </a:t>
            </a:r>
            <a:r>
              <a:rPr lang="en-GB" altLang="zh-CN" sz="3150" dirty="0">
                <a:solidFill>
                  <a:srgbClr val="182C32"/>
                </a:solidFill>
                <a:latin typeface="Georgia"/>
              </a:rPr>
              <a:t>(</a:t>
            </a:r>
            <a:r>
              <a:rPr dirty="0"/>
              <a:t>WAAPO</a:t>
            </a:r>
            <a:r>
              <a:rPr lang="en-GB" dirty="0"/>
              <a:t>)</a:t>
            </a:r>
            <a:r>
              <a:rPr dirty="0"/>
              <a:t> separates input masks from trajectory penalties</a:t>
            </a:r>
          </a:p>
        </p:txBody>
      </p:sp>
      <p:sp>
        <p:nvSpPr>
          <p:cNvPr id="4" name="shape-104">
            <a:extLst>
              <a:ext uri="{FF2B5EF4-FFF2-40B4-BE49-F238E27FC236}">
                <a16:creationId xmlns:a16="http://schemas.microsoft.com/office/drawing/2014/main" id="{A6CE6F60-3647-42B3-97C9-077104D0BDBC}"/>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105">
            <a:extLst>
              <a:ext uri="{FF2B5EF4-FFF2-40B4-BE49-F238E27FC236}">
                <a16:creationId xmlns:a16="http://schemas.microsoft.com/office/drawing/2014/main" id="{2F05D27A-FA44-459F-9779-A0647FC60894}"/>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Forecasting Fails: Unveiling Evasion Attacks in Weather Prediction Models • arxiv.org/abs/2512.08832</a:t>
            </a:r>
          </a:p>
        </p:txBody>
      </p:sp>
      <p:sp>
        <p:nvSpPr>
          <p:cNvPr id="6" name="text-106">
            <a:extLst>
              <a:ext uri="{FF2B5EF4-FFF2-40B4-BE49-F238E27FC236}">
                <a16:creationId xmlns:a16="http://schemas.microsoft.com/office/drawing/2014/main" id="{BB5CC691-B929-4EDB-A33B-9F08A49F4B96}"/>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06</a:t>
            </a:r>
          </a:p>
        </p:txBody>
      </p:sp>
      <p:sp>
        <p:nvSpPr>
          <p:cNvPr id="7" name="text-107">
            <a:extLst>
              <a:ext uri="{FF2B5EF4-FFF2-40B4-BE49-F238E27FC236}">
                <a16:creationId xmlns:a16="http://schemas.microsoft.com/office/drawing/2014/main" id="{67FE3C22-BC35-4E16-A622-27ECADDFACB1}"/>
              </a:ext>
            </a:extLst>
          </p:cNvPr>
          <p:cNvSpPr>
            <a:spLocks noGrp="1"/>
          </p:cNvSpPr>
          <p:nvPr/>
        </p:nvSpPr>
        <p:spPr>
          <a:xfrm>
            <a:off x="628650" y="1809750"/>
            <a:ext cx="10858500" cy="285750"/>
          </a:xfrm>
          <a:prstGeom prst="rect">
            <a:avLst/>
          </a:prstGeom>
        </p:spPr>
        <p:txBody>
          <a:bodyPr lIns="0" tIns="0" rIns="0" bIns="0"/>
          <a:lstStyle/>
          <a:p>
            <a:pPr>
              <a:buNone/>
              <a:defRPr sz="1500" b="0">
                <a:solidFill>
                  <a:srgbClr val="5C6C70"/>
                </a:solidFill>
                <a:latin typeface="Arial"/>
                <a:ea typeface="Arial"/>
                <a:cs typeface="Arial"/>
              </a:defRPr>
            </a:pPr>
            <a:r>
              <a:t>Deterministic FourCastNet • processed ERA5 • white-box</a:t>
            </a:r>
          </a:p>
        </p:txBody>
      </p:sp>
      <p:sp>
        <p:nvSpPr>
          <p:cNvPr id="8" name="text-108">
            <a:extLst>
              <a:ext uri="{FF2B5EF4-FFF2-40B4-BE49-F238E27FC236}">
                <a16:creationId xmlns:a16="http://schemas.microsoft.com/office/drawing/2014/main" id="{C35F0273-DCAA-404D-A0C7-A44AA11E3E4C}"/>
              </a:ext>
            </a:extLst>
          </p:cNvPr>
          <p:cNvSpPr>
            <a:spLocks noGrp="1"/>
          </p:cNvSpPr>
          <p:nvPr/>
        </p:nvSpPr>
        <p:spPr>
          <a:xfrm>
            <a:off x="628650" y="2219325"/>
            <a:ext cx="2762250" cy="323850"/>
          </a:xfrm>
          <a:prstGeom prst="rect">
            <a:avLst/>
          </a:prstGeom>
        </p:spPr>
        <p:txBody>
          <a:bodyPr lIns="0" tIns="0" rIns="0" bIns="0"/>
          <a:lstStyle/>
          <a:p>
            <a:pPr>
              <a:buNone/>
              <a:defRPr sz="1275" b="1">
                <a:solidFill>
                  <a:srgbClr val="182C32"/>
                </a:solidFill>
                <a:latin typeface="Arial"/>
                <a:ea typeface="Arial"/>
                <a:cs typeface="Arial"/>
              </a:defRPr>
            </a:pPr>
            <a:r>
              <a:t>LOSS</a:t>
            </a:r>
          </a:p>
        </p:txBody>
      </p:sp>
      <p:sp>
        <p:nvSpPr>
          <p:cNvPr id="9" name="text-109">
            <a:extLst>
              <a:ext uri="{FF2B5EF4-FFF2-40B4-BE49-F238E27FC236}">
                <a16:creationId xmlns:a16="http://schemas.microsoft.com/office/drawing/2014/main" id="{556DAAC5-366E-4B61-9995-7873803B31BB}"/>
              </a:ext>
            </a:extLst>
          </p:cNvPr>
          <p:cNvSpPr>
            <a:spLocks noGrp="1"/>
          </p:cNvSpPr>
          <p:nvPr/>
        </p:nvSpPr>
        <p:spPr>
          <a:xfrm>
            <a:off x="3714750" y="2171700"/>
            <a:ext cx="7620000" cy="628650"/>
          </a:xfrm>
          <a:prstGeom prst="rect">
            <a:avLst/>
          </a:prstGeom>
        </p:spPr>
        <p:txBody>
          <a:bodyPr lIns="0" tIns="0" rIns="0" bIns="0"/>
          <a:lstStyle/>
          <a:p>
            <a:pPr>
              <a:buNone/>
              <a:defRPr sz="2175" b="0">
                <a:solidFill>
                  <a:srgbClr val="182C32"/>
                </a:solidFill>
                <a:latin typeface="Arial"/>
                <a:ea typeface="Arial"/>
                <a:cs typeface="Arial"/>
              </a:defRPr>
            </a:pPr>
            <a:r>
              <a:t>Squared target error + L∞ penalty + TV penalty</a:t>
            </a:r>
          </a:p>
        </p:txBody>
      </p:sp>
      <p:sp>
        <p:nvSpPr>
          <p:cNvPr id="10" name="shape-110">
            <a:extLst>
              <a:ext uri="{FF2B5EF4-FFF2-40B4-BE49-F238E27FC236}">
                <a16:creationId xmlns:a16="http://schemas.microsoft.com/office/drawing/2014/main" id="{640FEB7B-740A-43A4-805C-ACAE1ED8EA51}"/>
              </a:ext>
            </a:extLst>
          </p:cNvPr>
          <p:cNvSpPr>
            <a:spLocks noGrp="1"/>
          </p:cNvSpPr>
          <p:nvPr/>
        </p:nvSpPr>
        <p:spPr>
          <a:xfrm>
            <a:off x="628650" y="2914650"/>
            <a:ext cx="10934700" cy="9525"/>
          </a:xfrm>
          <a:prstGeom prst="rect">
            <a:avLst/>
          </a:prstGeom>
          <a:solidFill>
            <a:srgbClr val="D1D7D4"/>
          </a:solidFill>
          <a:ln w="0">
            <a:solidFill>
              <a:srgbClr val="D1D7D4"/>
            </a:solidFill>
            <a:prstDash val="solid"/>
          </a:ln>
        </p:spPr>
        <p:txBody>
          <a:bodyPr/>
          <a:lstStyle/>
          <a:p>
            <a:endParaRPr/>
          </a:p>
        </p:txBody>
      </p:sp>
      <p:sp>
        <p:nvSpPr>
          <p:cNvPr id="11" name="text-111">
            <a:extLst>
              <a:ext uri="{FF2B5EF4-FFF2-40B4-BE49-F238E27FC236}">
                <a16:creationId xmlns:a16="http://schemas.microsoft.com/office/drawing/2014/main" id="{7D6B8C94-DE2B-476A-BE43-CEBA01AAC0E5}"/>
              </a:ext>
            </a:extLst>
          </p:cNvPr>
          <p:cNvSpPr>
            <a:spLocks noGrp="1"/>
          </p:cNvSpPr>
          <p:nvPr/>
        </p:nvSpPr>
        <p:spPr>
          <a:xfrm>
            <a:off x="628650" y="3171825"/>
            <a:ext cx="2762250" cy="323850"/>
          </a:xfrm>
          <a:prstGeom prst="rect">
            <a:avLst/>
          </a:prstGeom>
        </p:spPr>
        <p:txBody>
          <a:bodyPr lIns="0" tIns="0" rIns="0" bIns="0"/>
          <a:lstStyle/>
          <a:p>
            <a:pPr>
              <a:buNone/>
              <a:defRPr sz="1275" b="1">
                <a:solidFill>
                  <a:srgbClr val="207E81"/>
                </a:solidFill>
                <a:latin typeface="Arial"/>
                <a:ea typeface="Arial"/>
                <a:cs typeface="Arial"/>
              </a:defRPr>
            </a:pPr>
            <a:r>
              <a:t>SOFT PENALTIES</a:t>
            </a:r>
          </a:p>
        </p:txBody>
      </p:sp>
      <p:sp>
        <p:nvSpPr>
          <p:cNvPr id="12" name="text-112">
            <a:extLst>
              <a:ext uri="{FF2B5EF4-FFF2-40B4-BE49-F238E27FC236}">
                <a16:creationId xmlns:a16="http://schemas.microsoft.com/office/drawing/2014/main" id="{A690FCCA-6A48-41A0-9991-291F957F4652}"/>
              </a:ext>
            </a:extLst>
          </p:cNvPr>
          <p:cNvSpPr>
            <a:spLocks noGrp="1"/>
          </p:cNvSpPr>
          <p:nvPr/>
        </p:nvSpPr>
        <p:spPr>
          <a:xfrm>
            <a:off x="3714750" y="3124200"/>
            <a:ext cx="7620000" cy="628650"/>
          </a:xfrm>
          <a:prstGeom prst="rect">
            <a:avLst/>
          </a:prstGeom>
        </p:spPr>
        <p:txBody>
          <a:bodyPr lIns="0" tIns="0" rIns="0" bIns="0"/>
          <a:lstStyle/>
          <a:p>
            <a:pPr>
              <a:buNone/>
              <a:defRPr sz="2175" b="0">
                <a:solidFill>
                  <a:srgbClr val="182C32"/>
                </a:solidFill>
                <a:latin typeface="Arial"/>
                <a:ea typeface="Arial"/>
                <a:cs typeface="Arial"/>
              </a:defRPr>
            </a:pPr>
            <a:r>
              <a:rPr dirty="0"/>
              <a:t>L∞: forecast magnitude; total variation (TV): roughness</a:t>
            </a:r>
          </a:p>
        </p:txBody>
      </p:sp>
      <p:sp>
        <p:nvSpPr>
          <p:cNvPr id="13" name="shape-113">
            <a:extLst>
              <a:ext uri="{FF2B5EF4-FFF2-40B4-BE49-F238E27FC236}">
                <a16:creationId xmlns:a16="http://schemas.microsoft.com/office/drawing/2014/main" id="{F54B3AE8-462D-4D60-95F1-0CC7703AAB87}"/>
              </a:ext>
            </a:extLst>
          </p:cNvPr>
          <p:cNvSpPr>
            <a:spLocks noGrp="1"/>
          </p:cNvSpPr>
          <p:nvPr/>
        </p:nvSpPr>
        <p:spPr>
          <a:xfrm>
            <a:off x="628650" y="3867150"/>
            <a:ext cx="10934700" cy="9525"/>
          </a:xfrm>
          <a:prstGeom prst="rect">
            <a:avLst/>
          </a:prstGeom>
          <a:solidFill>
            <a:srgbClr val="D1D7D4"/>
          </a:solidFill>
          <a:ln w="0">
            <a:solidFill>
              <a:srgbClr val="D1D7D4"/>
            </a:solidFill>
            <a:prstDash val="solid"/>
          </a:ln>
        </p:spPr>
        <p:txBody>
          <a:bodyPr/>
          <a:lstStyle/>
          <a:p>
            <a:endParaRPr/>
          </a:p>
        </p:txBody>
      </p:sp>
      <p:sp>
        <p:nvSpPr>
          <p:cNvPr id="14" name="text-114">
            <a:extLst>
              <a:ext uri="{FF2B5EF4-FFF2-40B4-BE49-F238E27FC236}">
                <a16:creationId xmlns:a16="http://schemas.microsoft.com/office/drawing/2014/main" id="{05492E0A-04CF-4791-A259-03AB24AEC5C0}"/>
              </a:ext>
            </a:extLst>
          </p:cNvPr>
          <p:cNvSpPr>
            <a:spLocks noGrp="1"/>
          </p:cNvSpPr>
          <p:nvPr/>
        </p:nvSpPr>
        <p:spPr>
          <a:xfrm>
            <a:off x="628650" y="4124325"/>
            <a:ext cx="2762250" cy="323850"/>
          </a:xfrm>
          <a:prstGeom prst="rect">
            <a:avLst/>
          </a:prstGeom>
        </p:spPr>
        <p:txBody>
          <a:bodyPr lIns="0" tIns="0" rIns="0" bIns="0"/>
          <a:lstStyle/>
          <a:p>
            <a:pPr>
              <a:buNone/>
              <a:defRPr sz="1275" b="1">
                <a:solidFill>
                  <a:srgbClr val="B85C38"/>
                </a:solidFill>
                <a:latin typeface="Arial"/>
                <a:ea typeface="Arial"/>
                <a:cs typeface="Arial"/>
              </a:defRPr>
            </a:pPr>
            <a:r>
              <a:t>HARD RESTRICTIONS</a:t>
            </a:r>
          </a:p>
        </p:txBody>
      </p:sp>
      <p:sp>
        <p:nvSpPr>
          <p:cNvPr id="15" name="text-115">
            <a:extLst>
              <a:ext uri="{FF2B5EF4-FFF2-40B4-BE49-F238E27FC236}">
                <a16:creationId xmlns:a16="http://schemas.microsoft.com/office/drawing/2014/main" id="{66D97303-E179-4B3F-8490-D630DAB2A447}"/>
              </a:ext>
            </a:extLst>
          </p:cNvPr>
          <p:cNvSpPr>
            <a:spLocks noGrp="1"/>
          </p:cNvSpPr>
          <p:nvPr/>
        </p:nvSpPr>
        <p:spPr>
          <a:xfrm>
            <a:off x="3714750" y="4076700"/>
            <a:ext cx="7620000" cy="628650"/>
          </a:xfrm>
          <a:prstGeom prst="rect">
            <a:avLst/>
          </a:prstGeom>
        </p:spPr>
        <p:txBody>
          <a:bodyPr lIns="0" tIns="0" rIns="0" bIns="0"/>
          <a:lstStyle/>
          <a:p>
            <a:pPr>
              <a:buNone/>
              <a:defRPr sz="2175" b="0">
                <a:solidFill>
                  <a:srgbClr val="182C32"/>
                </a:solidFill>
                <a:latin typeface="Arial"/>
                <a:ea typeface="Arial"/>
                <a:cs typeface="Arial"/>
              </a:defRPr>
            </a:pPr>
            <a:r>
              <a:rPr dirty="0"/>
              <a:t>Apply custom spatial and variable-channel masks</a:t>
            </a:r>
          </a:p>
        </p:txBody>
      </p:sp>
      <p:sp>
        <p:nvSpPr>
          <p:cNvPr id="16" name="shape-116">
            <a:extLst>
              <a:ext uri="{FF2B5EF4-FFF2-40B4-BE49-F238E27FC236}">
                <a16:creationId xmlns:a16="http://schemas.microsoft.com/office/drawing/2014/main" id="{38DD04BF-A9A6-409B-B18D-073042B73674}"/>
              </a:ext>
            </a:extLst>
          </p:cNvPr>
          <p:cNvSpPr>
            <a:spLocks noGrp="1"/>
          </p:cNvSpPr>
          <p:nvPr/>
        </p:nvSpPr>
        <p:spPr>
          <a:xfrm>
            <a:off x="628650" y="4819650"/>
            <a:ext cx="10934700" cy="9525"/>
          </a:xfrm>
          <a:prstGeom prst="rect">
            <a:avLst/>
          </a:prstGeom>
          <a:solidFill>
            <a:srgbClr val="D1D7D4"/>
          </a:solidFill>
          <a:ln w="0">
            <a:solidFill>
              <a:srgbClr val="D1D7D4"/>
            </a:solidFill>
            <a:prstDash val="solid"/>
          </a:ln>
        </p:spPr>
        <p:txBody>
          <a:bodyPr/>
          <a:lstStyle/>
          <a:p>
            <a:endParaRPr/>
          </a:p>
        </p:txBody>
      </p:sp>
      <p:sp>
        <p:nvSpPr>
          <p:cNvPr id="17" name="text-117">
            <a:extLst>
              <a:ext uri="{FF2B5EF4-FFF2-40B4-BE49-F238E27FC236}">
                <a16:creationId xmlns:a16="http://schemas.microsoft.com/office/drawing/2014/main" id="{FE15F8DB-0378-47F2-B6CB-33349ABC9460}"/>
              </a:ext>
            </a:extLst>
          </p:cNvPr>
          <p:cNvSpPr>
            <a:spLocks noGrp="1"/>
          </p:cNvSpPr>
          <p:nvPr/>
        </p:nvSpPr>
        <p:spPr>
          <a:xfrm>
            <a:off x="628650" y="5219700"/>
            <a:ext cx="10858500" cy="381000"/>
          </a:xfrm>
          <a:prstGeom prst="rect">
            <a:avLst/>
          </a:prstGeom>
        </p:spPr>
        <p:txBody>
          <a:bodyPr lIns="0" tIns="0" rIns="0" bIns="0"/>
          <a:lstStyle/>
          <a:p>
            <a:pPr>
              <a:buNone/>
              <a:defRPr sz="1875" b="1">
                <a:solidFill>
                  <a:srgbClr val="207E81"/>
                </a:solidFill>
                <a:latin typeface="Arial"/>
                <a:ea typeface="Arial"/>
                <a:cs typeface="Arial"/>
              </a:defRPr>
            </a:pPr>
            <a:r>
              <a:t>Gradient update → custom spatial/channel masks → repeat</a:t>
            </a:r>
          </a:p>
        </p:txBody>
      </p:sp>
    </p:spTree>
    <p:extLst>
      <p:ext uri="{BB962C8B-B14F-4D97-AF65-F5344CB8AC3E}">
        <p14:creationId xmlns:p14="http://schemas.microsoft.com/office/powerpoint/2010/main" val="2056032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7" name="kicker-marker">
            <a:extLst>
              <a:ext uri="{FF2B5EF4-FFF2-40B4-BE49-F238E27FC236}">
                <a16:creationId xmlns:a16="http://schemas.microsoft.com/office/drawing/2014/main" id="{3AFD5621-C894-4FBE-A0CD-30BE8F113642}"/>
              </a:ext>
            </a:extLst>
          </p:cNvPr>
          <p:cNvSpPr>
            <a:spLocks noGrp="1"/>
          </p:cNvSpPr>
          <p:nvPr/>
        </p:nvSpPr>
        <p:spPr>
          <a:xfrm>
            <a:off x="628650" y="400050"/>
            <a:ext cx="57150" cy="57150"/>
          </a:xfrm>
          <a:prstGeom prst="rect">
            <a:avLst/>
          </a:prstGeom>
          <a:solidFill>
            <a:srgbClr val="207E81"/>
          </a:solidFill>
          <a:ln w="0">
            <a:solidFill>
              <a:srgbClr val="207E81"/>
            </a:solidFill>
            <a:prstDash val="solid"/>
          </a:ln>
        </p:spPr>
        <p:txBody>
          <a:bodyPr/>
          <a:lstStyle/>
          <a:p>
            <a:endParaRPr/>
          </a:p>
        </p:txBody>
      </p:sp>
      <p:sp>
        <p:nvSpPr>
          <p:cNvPr id="2" name="kicker-label">
            <a:extLst>
              <a:ext uri="{FF2B5EF4-FFF2-40B4-BE49-F238E27FC236}">
                <a16:creationId xmlns:a16="http://schemas.microsoft.com/office/drawing/2014/main" id="{4DAD8D2E-090D-4A6B-B250-0665E2F04771}"/>
              </a:ext>
            </a:extLst>
          </p:cNvPr>
          <p:cNvSpPr>
            <a:spLocks noGrp="1"/>
          </p:cNvSpPr>
          <p:nvPr/>
        </p:nvSpPr>
        <p:spPr>
          <a:xfrm>
            <a:off x="800100" y="285750"/>
            <a:ext cx="10287000" cy="285750"/>
          </a:xfrm>
          <a:prstGeom prst="rect">
            <a:avLst/>
          </a:prstGeom>
        </p:spPr>
        <p:txBody>
          <a:bodyPr lIns="0" tIns="0" rIns="0" bIns="0" anchor="ctr"/>
          <a:lstStyle/>
          <a:p>
            <a:pPr>
              <a:buNone/>
              <a:defRPr sz="1125" b="1">
                <a:solidFill>
                  <a:srgbClr val="207E81"/>
                </a:solidFill>
                <a:latin typeface="Arial"/>
                <a:ea typeface="Arial"/>
                <a:cs typeface="Arial"/>
              </a:defRPr>
            </a:pPr>
            <a:r>
              <a:t>AARDVARK</a:t>
            </a:r>
          </a:p>
        </p:txBody>
      </p:sp>
      <p:sp>
        <p:nvSpPr>
          <p:cNvPr id="3" name="aardvark-text">
            <a:extLst>
              <a:ext uri="{FF2B5EF4-FFF2-40B4-BE49-F238E27FC236}">
                <a16:creationId xmlns:a16="http://schemas.microsoft.com/office/drawing/2014/main" id="{6662134A-B60B-40DE-AAAB-7A6BC2A43DF3}"/>
              </a:ext>
            </a:extLst>
          </p:cNvPr>
          <p:cNvSpPr>
            <a:spLocks noGrp="1"/>
          </p:cNvSpPr>
          <p:nvPr/>
        </p:nvSpPr>
        <p:spPr>
          <a:xfrm>
            <a:off x="628650" y="790575"/>
            <a:ext cx="10953750" cy="904875"/>
          </a:xfrm>
          <a:prstGeom prst="rect">
            <a:avLst/>
          </a:prstGeom>
        </p:spPr>
        <p:txBody>
          <a:bodyPr lIns="0" tIns="0" rIns="0" bIns="0"/>
          <a:lstStyle/>
          <a:p>
            <a:pPr>
              <a:buNone/>
              <a:defRPr sz="3000" b="0">
                <a:solidFill>
                  <a:srgbClr val="182C32"/>
                </a:solidFill>
                <a:latin typeface="Georgia"/>
                <a:ea typeface="Georgia"/>
                <a:cs typeface="Georgia"/>
              </a:defRPr>
            </a:pPr>
            <a:r>
              <a:t>Two routes from grided data attacks to observations</a:t>
            </a:r>
          </a:p>
        </p:txBody>
      </p:sp>
      <p:sp>
        <p:nvSpPr>
          <p:cNvPr id="4" name="aardvark-text">
            <a:extLst>
              <a:ext uri="{FF2B5EF4-FFF2-40B4-BE49-F238E27FC236}">
                <a16:creationId xmlns:a16="http://schemas.microsoft.com/office/drawing/2014/main" id="{4858391C-0169-427D-AAD2-BEE4A9CDFDB1}"/>
              </a:ext>
            </a:extLst>
          </p:cNvPr>
          <p:cNvSpPr>
            <a:spLocks noGrp="1"/>
          </p:cNvSpPr>
          <p:nvPr/>
        </p:nvSpPr>
        <p:spPr>
          <a:xfrm>
            <a:off x="628650" y="1895475"/>
            <a:ext cx="10934700" cy="381000"/>
          </a:xfrm>
          <a:prstGeom prst="rect">
            <a:avLst/>
          </a:prstGeom>
        </p:spPr>
        <p:txBody>
          <a:bodyPr lIns="0" tIns="0" rIns="0" bIns="0"/>
          <a:lstStyle/>
          <a:p>
            <a:pPr>
              <a:buNone/>
              <a:defRPr sz="1725" b="0">
                <a:solidFill>
                  <a:srgbClr val="5C6C70"/>
                </a:solidFill>
                <a:latin typeface="Arial"/>
                <a:ea typeface="Arial"/>
                <a:cs typeface="Arial"/>
              </a:defRPr>
            </a:pPr>
            <a:r>
              <a:t>Deterministic model • observations → encoder → weather state → processor → forecast</a:t>
            </a:r>
          </a:p>
        </p:txBody>
      </p:sp>
      <p:sp>
        <p:nvSpPr>
          <p:cNvPr id="5" name="aardvark-text">
            <a:extLst>
              <a:ext uri="{FF2B5EF4-FFF2-40B4-BE49-F238E27FC236}">
                <a16:creationId xmlns:a16="http://schemas.microsoft.com/office/drawing/2014/main" id="{68626B47-C3D6-4465-A6D3-DE928921D016}"/>
              </a:ext>
            </a:extLst>
          </p:cNvPr>
          <p:cNvSpPr>
            <a:spLocks noGrp="1"/>
          </p:cNvSpPr>
          <p:nvPr/>
        </p:nvSpPr>
        <p:spPr>
          <a:xfrm>
            <a:off x="628650" y="2533650"/>
            <a:ext cx="571500" cy="381000"/>
          </a:xfrm>
          <a:prstGeom prst="rect">
            <a:avLst/>
          </a:prstGeom>
        </p:spPr>
        <p:txBody>
          <a:bodyPr lIns="0" tIns="0" rIns="0" bIns="0"/>
          <a:lstStyle/>
          <a:p>
            <a:pPr>
              <a:buNone/>
              <a:defRPr sz="1950" b="1">
                <a:solidFill>
                  <a:srgbClr val="207E81"/>
                </a:solidFill>
                <a:latin typeface="Arial"/>
                <a:ea typeface="Arial"/>
                <a:cs typeface="Arial"/>
              </a:defRPr>
            </a:pPr>
            <a:r>
              <a:t>01</a:t>
            </a:r>
          </a:p>
        </p:txBody>
      </p:sp>
      <p:sp>
        <p:nvSpPr>
          <p:cNvPr id="6" name="aardvark-text">
            <a:extLst>
              <a:ext uri="{FF2B5EF4-FFF2-40B4-BE49-F238E27FC236}">
                <a16:creationId xmlns:a16="http://schemas.microsoft.com/office/drawing/2014/main" id="{0A3FF75A-802D-467D-80D8-56377EDC5917}"/>
              </a:ext>
            </a:extLst>
          </p:cNvPr>
          <p:cNvSpPr>
            <a:spLocks noGrp="1"/>
          </p:cNvSpPr>
          <p:nvPr/>
        </p:nvSpPr>
        <p:spPr>
          <a:xfrm>
            <a:off x="1333500" y="2514600"/>
            <a:ext cx="10001250" cy="428625"/>
          </a:xfrm>
          <a:prstGeom prst="rect">
            <a:avLst/>
          </a:prstGeom>
        </p:spPr>
        <p:txBody>
          <a:bodyPr lIns="0" tIns="0" rIns="0" bIns="0"/>
          <a:lstStyle/>
          <a:p>
            <a:pPr>
              <a:buNone/>
              <a:defRPr sz="2175" b="1">
                <a:solidFill>
                  <a:srgbClr val="182C32"/>
                </a:solidFill>
                <a:latin typeface="Arial"/>
                <a:ea typeface="Arial"/>
                <a:cs typeface="Arial"/>
              </a:defRPr>
            </a:pPr>
            <a:r>
              <a:t>Attack the processor, then search</a:t>
            </a:r>
          </a:p>
        </p:txBody>
      </p:sp>
      <p:sp>
        <p:nvSpPr>
          <p:cNvPr id="7" name="aardvark-text">
            <a:extLst>
              <a:ext uri="{FF2B5EF4-FFF2-40B4-BE49-F238E27FC236}">
                <a16:creationId xmlns:a16="http://schemas.microsoft.com/office/drawing/2014/main" id="{36F5FE7E-93ED-4A45-921F-35F3A016F47E}"/>
              </a:ext>
            </a:extLst>
          </p:cNvPr>
          <p:cNvSpPr>
            <a:spLocks noGrp="1"/>
          </p:cNvSpPr>
          <p:nvPr/>
        </p:nvSpPr>
        <p:spPr>
          <a:xfrm>
            <a:off x="1333500" y="3038475"/>
            <a:ext cx="10096500" cy="447675"/>
          </a:xfrm>
          <a:prstGeom prst="rect">
            <a:avLst/>
          </a:prstGeom>
        </p:spPr>
        <p:txBody>
          <a:bodyPr lIns="0" tIns="0" rIns="0" bIns="0"/>
          <a:lstStyle/>
          <a:p>
            <a:pPr>
              <a:buNone/>
              <a:defRPr sz="1875" b="0">
                <a:solidFill>
                  <a:srgbClr val="182C32"/>
                </a:solidFill>
                <a:latin typeface="Arial"/>
                <a:ea typeface="Arial"/>
                <a:cs typeface="Arial"/>
              </a:defRPr>
            </a:pPr>
            <a:r>
              <a:t>Find an attacked initial state → search for observations that encode to it.</a:t>
            </a:r>
          </a:p>
        </p:txBody>
      </p:sp>
      <p:sp>
        <p:nvSpPr>
          <p:cNvPr id="8" name="aardvark-text">
            <a:extLst>
              <a:ext uri="{FF2B5EF4-FFF2-40B4-BE49-F238E27FC236}">
                <a16:creationId xmlns:a16="http://schemas.microsoft.com/office/drawing/2014/main" id="{36CE46C4-CF5A-499C-B95E-5F7FA6824D8D}"/>
              </a:ext>
            </a:extLst>
          </p:cNvPr>
          <p:cNvSpPr>
            <a:spLocks noGrp="1"/>
          </p:cNvSpPr>
          <p:nvPr/>
        </p:nvSpPr>
        <p:spPr>
          <a:xfrm>
            <a:off x="1333500" y="3495675"/>
            <a:ext cx="10096500" cy="361950"/>
          </a:xfrm>
          <a:prstGeom prst="rect">
            <a:avLst/>
          </a:prstGeom>
        </p:spPr>
        <p:txBody>
          <a:bodyPr lIns="0" tIns="0" rIns="0" bIns="0"/>
          <a:lstStyle/>
          <a:p>
            <a:pPr>
              <a:buNone/>
              <a:defRPr sz="1575" b="0">
                <a:solidFill>
                  <a:srgbClr val="5C6C70"/>
                </a:solidFill>
                <a:latin typeface="Arial"/>
                <a:ea typeface="Arial"/>
                <a:cs typeface="Arial"/>
              </a:defRPr>
            </a:pPr>
            <a:r>
              <a:t>A matching observation set may not exist within realistic limits.</a:t>
            </a:r>
          </a:p>
        </p:txBody>
      </p:sp>
      <p:sp>
        <p:nvSpPr>
          <p:cNvPr id="9" name="aardvark-shape">
            <a:extLst>
              <a:ext uri="{FF2B5EF4-FFF2-40B4-BE49-F238E27FC236}">
                <a16:creationId xmlns:a16="http://schemas.microsoft.com/office/drawing/2014/main" id="{7EE5D20A-9B43-4247-A611-EAB42ACDE14A}"/>
              </a:ext>
            </a:extLst>
          </p:cNvPr>
          <p:cNvSpPr>
            <a:spLocks noGrp="1"/>
          </p:cNvSpPr>
          <p:nvPr/>
        </p:nvSpPr>
        <p:spPr>
          <a:xfrm>
            <a:off x="628650" y="4057650"/>
            <a:ext cx="10934700" cy="9525"/>
          </a:xfrm>
          <a:prstGeom prst="rect">
            <a:avLst/>
          </a:prstGeom>
          <a:solidFill>
            <a:srgbClr val="D1D7D4"/>
          </a:solidFill>
          <a:ln w="0">
            <a:solidFill>
              <a:srgbClr val="D1D7D4"/>
            </a:solidFill>
            <a:prstDash val="solid"/>
          </a:ln>
        </p:spPr>
        <p:txBody>
          <a:bodyPr/>
          <a:lstStyle/>
          <a:p>
            <a:endParaRPr/>
          </a:p>
        </p:txBody>
      </p:sp>
      <p:sp>
        <p:nvSpPr>
          <p:cNvPr id="10" name="aardvark-text">
            <a:extLst>
              <a:ext uri="{FF2B5EF4-FFF2-40B4-BE49-F238E27FC236}">
                <a16:creationId xmlns:a16="http://schemas.microsoft.com/office/drawing/2014/main" id="{5EC1F378-A286-4301-94F0-BB6E7E50C442}"/>
              </a:ext>
            </a:extLst>
          </p:cNvPr>
          <p:cNvSpPr>
            <a:spLocks noGrp="1"/>
          </p:cNvSpPr>
          <p:nvPr/>
        </p:nvSpPr>
        <p:spPr>
          <a:xfrm>
            <a:off x="628650" y="4362450"/>
            <a:ext cx="571500" cy="381000"/>
          </a:xfrm>
          <a:prstGeom prst="rect">
            <a:avLst/>
          </a:prstGeom>
        </p:spPr>
        <p:txBody>
          <a:bodyPr lIns="0" tIns="0" rIns="0" bIns="0"/>
          <a:lstStyle/>
          <a:p>
            <a:pPr>
              <a:buNone/>
              <a:defRPr sz="1950" b="1">
                <a:solidFill>
                  <a:srgbClr val="B85C38"/>
                </a:solidFill>
                <a:latin typeface="Arial"/>
                <a:ea typeface="Arial"/>
                <a:cs typeface="Arial"/>
              </a:defRPr>
            </a:pPr>
            <a:r>
              <a:t>02</a:t>
            </a:r>
          </a:p>
        </p:txBody>
      </p:sp>
      <p:sp>
        <p:nvSpPr>
          <p:cNvPr id="11" name="aardvark-text">
            <a:extLst>
              <a:ext uri="{FF2B5EF4-FFF2-40B4-BE49-F238E27FC236}">
                <a16:creationId xmlns:a16="http://schemas.microsoft.com/office/drawing/2014/main" id="{85D12C5B-3A60-4A15-A9D0-A17E7771DD90}"/>
              </a:ext>
            </a:extLst>
          </p:cNvPr>
          <p:cNvSpPr>
            <a:spLocks noGrp="1"/>
          </p:cNvSpPr>
          <p:nvPr/>
        </p:nvSpPr>
        <p:spPr>
          <a:xfrm>
            <a:off x="1333500" y="4343400"/>
            <a:ext cx="10001250" cy="428625"/>
          </a:xfrm>
          <a:prstGeom prst="rect">
            <a:avLst/>
          </a:prstGeom>
        </p:spPr>
        <p:txBody>
          <a:bodyPr lIns="0" tIns="0" rIns="0" bIns="0"/>
          <a:lstStyle/>
          <a:p>
            <a:pPr>
              <a:buNone/>
              <a:defRPr sz="2175" b="1">
                <a:solidFill>
                  <a:srgbClr val="182C32"/>
                </a:solidFill>
                <a:latin typeface="Arial"/>
                <a:ea typeface="Arial"/>
                <a:cs typeface="Arial"/>
              </a:defRPr>
            </a:pPr>
            <a:r>
              <a:t>Attack encoder + processor together</a:t>
            </a:r>
          </a:p>
        </p:txBody>
      </p:sp>
      <p:sp>
        <p:nvSpPr>
          <p:cNvPr id="12" name="aardvark-text">
            <a:extLst>
              <a:ext uri="{FF2B5EF4-FFF2-40B4-BE49-F238E27FC236}">
                <a16:creationId xmlns:a16="http://schemas.microsoft.com/office/drawing/2014/main" id="{3504A0D0-9A15-49A5-A6AE-D10CE3963F92}"/>
              </a:ext>
            </a:extLst>
          </p:cNvPr>
          <p:cNvSpPr>
            <a:spLocks noGrp="1"/>
          </p:cNvSpPr>
          <p:nvPr/>
        </p:nvSpPr>
        <p:spPr>
          <a:xfrm>
            <a:off x="1333500" y="4867275"/>
            <a:ext cx="10096500" cy="419100"/>
          </a:xfrm>
          <a:prstGeom prst="rect">
            <a:avLst/>
          </a:prstGeom>
        </p:spPr>
        <p:txBody>
          <a:bodyPr lIns="0" tIns="0" rIns="0" bIns="0"/>
          <a:lstStyle/>
          <a:p>
            <a:pPr>
              <a:buNone/>
              <a:defRPr sz="1875" b="0">
                <a:solidFill>
                  <a:srgbClr val="182C32"/>
                </a:solidFill>
                <a:latin typeface="Arial"/>
                <a:ea typeface="Arial"/>
                <a:cs typeface="Arial"/>
              </a:defRPr>
            </a:pPr>
            <a:r>
              <a:t>Optimise observation changes through the full forecast calculation.</a:t>
            </a:r>
          </a:p>
        </p:txBody>
      </p:sp>
      <p:sp>
        <p:nvSpPr>
          <p:cNvPr id="13" name="aardvark-text">
            <a:extLst>
              <a:ext uri="{FF2B5EF4-FFF2-40B4-BE49-F238E27FC236}">
                <a16:creationId xmlns:a16="http://schemas.microsoft.com/office/drawing/2014/main" id="{FABA59B4-452B-476C-8D37-210FA7DA8CED}"/>
              </a:ext>
            </a:extLst>
          </p:cNvPr>
          <p:cNvSpPr>
            <a:spLocks noGrp="1"/>
          </p:cNvSpPr>
          <p:nvPr/>
        </p:nvSpPr>
        <p:spPr>
          <a:xfrm>
            <a:off x="628650" y="5772150"/>
            <a:ext cx="10934700" cy="342900"/>
          </a:xfrm>
          <a:prstGeom prst="rect">
            <a:avLst/>
          </a:prstGeom>
        </p:spPr>
        <p:txBody>
          <a:bodyPr lIns="0" tIns="0" rIns="0" bIns="0"/>
          <a:lstStyle/>
          <a:p>
            <a:pPr>
              <a:buNone/>
              <a:defRPr sz="1650" b="1">
                <a:solidFill>
                  <a:srgbClr val="207E81"/>
                </a:solidFill>
                <a:latin typeface="Arial"/>
                <a:ea typeface="Arial"/>
                <a:cs typeface="Arial"/>
              </a:defRPr>
            </a:pPr>
            <a:r>
              <a:t>Both routes keep model weights fixed and constrain observation changes.</a:t>
            </a:r>
          </a:p>
        </p:txBody>
      </p:sp>
      <p:sp>
        <p:nvSpPr>
          <p:cNvPr id="14" name="aardvark-shape">
            <a:extLst>
              <a:ext uri="{FF2B5EF4-FFF2-40B4-BE49-F238E27FC236}">
                <a16:creationId xmlns:a16="http://schemas.microsoft.com/office/drawing/2014/main" id="{23B74450-6082-427F-80A9-A5E478BC9E3A}"/>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15" name="aardvark-text">
            <a:extLst>
              <a:ext uri="{FF2B5EF4-FFF2-40B4-BE49-F238E27FC236}">
                <a16:creationId xmlns:a16="http://schemas.microsoft.com/office/drawing/2014/main" id="{BCDC59AC-EB2F-4D7B-BBBC-7A075A48CE49}"/>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rPr sz="900" b="0">
                <a:solidFill>
                  <a:srgbClr val="5C6C70"/>
                </a:solidFill>
                <a:latin typeface="Arial"/>
                <a:ea typeface="Arial"/>
                <a:cs typeface="Arial"/>
              </a:rPr>
              <a:t>End-to-end data-driven weather prediction • doi:10.1038/s41586-025-08897-0 • Proposed research, not paper results</a:t>
            </a:r>
          </a:p>
        </p:txBody>
      </p:sp>
      <p:sp>
        <p:nvSpPr>
          <p:cNvPr id="16" name="aardvark-text">
            <a:extLst>
              <a:ext uri="{FF2B5EF4-FFF2-40B4-BE49-F238E27FC236}">
                <a16:creationId xmlns:a16="http://schemas.microsoft.com/office/drawing/2014/main" id="{9908C2CA-7431-470A-93EF-A461C7620CF1}"/>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11</a:t>
            </a:r>
          </a:p>
        </p:txBody>
      </p:sp>
    </p:spTree>
    <p:extLst>
      <p:ext uri="{BB962C8B-B14F-4D97-AF65-F5344CB8AC3E}">
        <p14:creationId xmlns:p14="http://schemas.microsoft.com/office/powerpoint/2010/main" val="625865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 name="kicker-marker">
            <a:extLst>
              <a:ext uri="{FF2B5EF4-FFF2-40B4-BE49-F238E27FC236}">
                <a16:creationId xmlns:a16="http://schemas.microsoft.com/office/drawing/2014/main" id="{399B41E4-F664-4E3A-9667-FF52EDCCB68A}"/>
              </a:ext>
            </a:extLst>
          </p:cNvPr>
          <p:cNvSpPr>
            <a:spLocks noGrp="1"/>
          </p:cNvSpPr>
          <p:nvPr/>
        </p:nvSpPr>
        <p:spPr>
          <a:xfrm>
            <a:off x="628650" y="400050"/>
            <a:ext cx="57150" cy="57150"/>
          </a:xfrm>
          <a:prstGeom prst="rect">
            <a:avLst/>
          </a:prstGeom>
          <a:solidFill>
            <a:srgbClr val="566F69"/>
          </a:solidFill>
          <a:ln w="0">
            <a:solidFill>
              <a:srgbClr val="566F69"/>
            </a:solidFill>
            <a:prstDash val="solid"/>
          </a:ln>
        </p:spPr>
        <p:txBody>
          <a:bodyPr/>
          <a:lstStyle/>
          <a:p>
            <a:endParaRPr lang="zh-CN" altLang="en-US"/>
          </a:p>
        </p:txBody>
      </p:sp>
      <p:sp>
        <p:nvSpPr>
          <p:cNvPr id="2" name="kicker-label">
            <a:extLst>
              <a:ext uri="{FF2B5EF4-FFF2-40B4-BE49-F238E27FC236}">
                <a16:creationId xmlns:a16="http://schemas.microsoft.com/office/drawing/2014/main" id="{9CDCC537-36F5-48C9-8CC9-522D15240411}"/>
              </a:ext>
            </a:extLst>
          </p:cNvPr>
          <p:cNvSpPr>
            <a:spLocks noGrp="1"/>
          </p:cNvSpPr>
          <p:nvPr/>
        </p:nvSpPr>
        <p:spPr>
          <a:xfrm>
            <a:off x="800100" y="285750"/>
            <a:ext cx="10287000" cy="285750"/>
          </a:xfrm>
          <a:prstGeom prst="rect">
            <a:avLst/>
          </a:prstGeom>
        </p:spPr>
        <p:txBody>
          <a:bodyPr lIns="0" tIns="0" rIns="0" bIns="0"/>
          <a:lstStyle/>
          <a:p>
            <a:pPr>
              <a:defRPr sz="1275" b="1">
                <a:solidFill>
                  <a:srgbClr val="566F69"/>
                </a:solidFill>
                <a:latin typeface="Arial"/>
                <a:ea typeface="Arial"/>
                <a:cs typeface="Arial"/>
              </a:defRPr>
            </a:pPr>
            <a:r>
              <a:t>OUR CNN • SIX-HOUR FORECAST</a:t>
            </a:r>
          </a:p>
        </p:txBody>
      </p:sp>
      <p:sp>
        <p:nvSpPr>
          <p:cNvPr id="3" name="title">
            <a:extLst>
              <a:ext uri="{FF2B5EF4-FFF2-40B4-BE49-F238E27FC236}">
                <a16:creationId xmlns:a16="http://schemas.microsoft.com/office/drawing/2014/main" id="{F904D7B8-3C0D-4EBE-B526-8A0B94F2CE13}"/>
              </a:ext>
            </a:extLst>
          </p:cNvPr>
          <p:cNvSpPr>
            <a:spLocks noGrp="1"/>
          </p:cNvSpPr>
          <p:nvPr/>
        </p:nvSpPr>
        <p:spPr>
          <a:xfrm>
            <a:off x="628650" y="790575"/>
            <a:ext cx="10953750" cy="904875"/>
          </a:xfrm>
          <a:prstGeom prst="rect">
            <a:avLst/>
          </a:prstGeom>
        </p:spPr>
        <p:txBody>
          <a:bodyPr lIns="0" tIns="0" rIns="0" bIns="0"/>
          <a:lstStyle/>
          <a:p>
            <a:pPr>
              <a:defRPr sz="2850" b="0">
                <a:solidFill>
                  <a:srgbClr val="182C32"/>
                </a:solidFill>
                <a:latin typeface="Georgia"/>
                <a:ea typeface="Georgia"/>
                <a:cs typeface="Georgia"/>
              </a:defRPr>
            </a:pPr>
            <a:r>
              <a:t>A small five-variable CNN beats no change</a:t>
            </a:r>
          </a:p>
        </p:txBody>
      </p:sp>
      <p:sp>
        <p:nvSpPr>
          <p:cNvPr id="4" name="footer-rule">
            <a:extLst>
              <a:ext uri="{FF2B5EF4-FFF2-40B4-BE49-F238E27FC236}">
                <a16:creationId xmlns:a16="http://schemas.microsoft.com/office/drawing/2014/main" id="{82AA91ED-F9FD-412B-8A3E-759B7C4B8562}"/>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lang="zh-CN" altLang="en-US"/>
          </a:p>
        </p:txBody>
      </p:sp>
      <p:sp>
        <p:nvSpPr>
          <p:cNvPr id="5" name="source">
            <a:extLst>
              <a:ext uri="{FF2B5EF4-FFF2-40B4-BE49-F238E27FC236}">
                <a16:creationId xmlns:a16="http://schemas.microsoft.com/office/drawing/2014/main" id="{8326597F-3F23-4D26-BB7B-5B0204AAEB04}"/>
              </a:ext>
            </a:extLst>
          </p:cNvPr>
          <p:cNvSpPr>
            <a:spLocks noGrp="1"/>
          </p:cNvSpPr>
          <p:nvPr/>
        </p:nvSpPr>
        <p:spPr>
          <a:xfrm>
            <a:off x="628650" y="6477000"/>
            <a:ext cx="10287000" cy="238125"/>
          </a:xfrm>
          <a:prstGeom prst="rect">
            <a:avLst/>
          </a:prstGeom>
        </p:spPr>
        <p:txBody>
          <a:bodyPr lIns="0" tIns="0" rIns="0" bIns="0"/>
          <a:lstStyle/>
          <a:p>
            <a:pPr>
              <a:defRPr sz="900" b="0">
                <a:solidFill>
                  <a:srgbClr val="5C6C70"/>
                </a:solidFill>
                <a:latin typeface="Arial"/>
                <a:ea typeface="Arial"/>
                <a:cs typeface="Arial"/>
              </a:defRPr>
            </a:pPr>
            <a:r>
              <a:t>Own experiments • test_metrics.json; tuned_attacks_steps/results.csv • exploratory 2022 test</a:t>
            </a:r>
          </a:p>
        </p:txBody>
      </p:sp>
      <p:sp>
        <p:nvSpPr>
          <p:cNvPr id="6" name="page">
            <a:extLst>
              <a:ext uri="{FF2B5EF4-FFF2-40B4-BE49-F238E27FC236}">
                <a16:creationId xmlns:a16="http://schemas.microsoft.com/office/drawing/2014/main" id="{F1CB5DEE-7956-47FE-B550-E0FFDC5839E9}"/>
              </a:ext>
            </a:extLst>
          </p:cNvPr>
          <p:cNvSpPr>
            <a:spLocks noGrp="1"/>
          </p:cNvSpPr>
          <p:nvPr/>
        </p:nvSpPr>
        <p:spPr>
          <a:xfrm>
            <a:off x="11125200" y="6448425"/>
            <a:ext cx="476250" cy="266700"/>
          </a:xfrm>
          <a:prstGeom prst="rect">
            <a:avLst/>
          </a:prstGeom>
        </p:spPr>
        <p:txBody>
          <a:bodyPr lIns="0" tIns="0" rIns="0" bIns="0"/>
          <a:lstStyle/>
          <a:p>
            <a:pPr>
              <a:defRPr sz="1200" b="0">
                <a:solidFill>
                  <a:srgbClr val="5C6C70"/>
                </a:solidFill>
                <a:latin typeface="Arial"/>
                <a:ea typeface="Arial"/>
                <a:cs typeface="Arial"/>
              </a:defRPr>
            </a:pPr>
            <a:r>
              <a:t>07</a:t>
            </a:r>
          </a:p>
        </p:txBody>
      </p:sp>
      <p:sp>
        <p:nvSpPr>
          <p:cNvPr id="7" name="cnn-shapes">
            <a:extLst>
              <a:ext uri="{FF2B5EF4-FFF2-40B4-BE49-F238E27FC236}">
                <a16:creationId xmlns:a16="http://schemas.microsoft.com/office/drawing/2014/main" id="{36DF8BA2-6426-4D9F-8C1A-F29F12BCE02F}"/>
              </a:ext>
            </a:extLst>
          </p:cNvPr>
          <p:cNvSpPr>
            <a:spLocks noGrp="1"/>
          </p:cNvSpPr>
          <p:nvPr/>
        </p:nvSpPr>
        <p:spPr>
          <a:xfrm>
            <a:off x="628650" y="1828800"/>
            <a:ext cx="10934700" cy="285750"/>
          </a:xfrm>
          <a:prstGeom prst="rect">
            <a:avLst/>
          </a:prstGeom>
        </p:spPr>
        <p:txBody>
          <a:bodyPr lIns="0" tIns="0" rIns="0" bIns="0"/>
          <a:lstStyle/>
          <a:p>
            <a:pPr>
              <a:defRPr sz="1575" b="0">
                <a:solidFill>
                  <a:srgbClr val="182C32"/>
                </a:solidFill>
                <a:latin typeface="Arial"/>
                <a:ea typeface="Arial"/>
                <a:cs typeface="Arial"/>
              </a:defRPr>
            </a:pPr>
            <a:r>
              <a:t>Two weather states + four clock maps: [B,14,16,16] → five future maps [B,5,16,16]</a:t>
            </a:r>
          </a:p>
        </p:txBody>
      </p:sp>
      <p:sp>
        <p:nvSpPr>
          <p:cNvPr id="8" name="cnn-architecture">
            <a:extLst>
              <a:ext uri="{FF2B5EF4-FFF2-40B4-BE49-F238E27FC236}">
                <a16:creationId xmlns:a16="http://schemas.microsoft.com/office/drawing/2014/main" id="{233D3113-B111-4F21-8EEE-C11D709B8D14}"/>
              </a:ext>
            </a:extLst>
          </p:cNvPr>
          <p:cNvSpPr>
            <a:spLocks noGrp="1"/>
          </p:cNvSpPr>
          <p:nvPr/>
        </p:nvSpPr>
        <p:spPr>
          <a:xfrm>
            <a:off x="628650" y="2181225"/>
            <a:ext cx="10934700" cy="285750"/>
          </a:xfrm>
          <a:prstGeom prst="rect">
            <a:avLst/>
          </a:prstGeom>
        </p:spPr>
        <p:txBody>
          <a:bodyPr lIns="0" tIns="0" rIns="0" bIns="0"/>
          <a:lstStyle/>
          <a:p>
            <a:pPr>
              <a:defRPr sz="1575" b="0">
                <a:solidFill>
                  <a:srgbClr val="182C32"/>
                </a:solidFill>
                <a:latin typeface="Arial"/>
                <a:ea typeface="Arial"/>
                <a:cs typeface="Arial"/>
              </a:defRPr>
            </a:pPr>
            <a:r>
              <a:t>5 convolution layers · 64 internal features · predict a correction + current state · 122k weights</a:t>
            </a:r>
          </a:p>
        </p:txBody>
      </p:sp>
      <p:pic>
        <p:nvPicPr>
          <p:cNvPr id="19" name="CNN clean performance and matched attacks"/>
          <p:cNvPicPr>
            <a:picLocks noChangeAspect="1"/>
          </p:cNvPicPr>
          <p:nvPr/>
        </p:nvPicPr>
        <p:blipFill>
          <a:blip r:embed="rId3"/>
          <a:stretch/>
        </p:blipFill>
        <p:spPr>
          <a:xfrm>
            <a:off x="1714500" y="2619375"/>
            <a:ext cx="8763000" cy="3286125"/>
          </a:xfrm>
          <a:prstGeom prst="rect">
            <a:avLst/>
          </a:prstGeom>
        </p:spPr>
      </p:pic>
      <p:sp>
        <p:nvSpPr>
          <p:cNvPr id="10" name="cnn-training">
            <a:extLst>
              <a:ext uri="{FF2B5EF4-FFF2-40B4-BE49-F238E27FC236}">
                <a16:creationId xmlns:a16="http://schemas.microsoft.com/office/drawing/2014/main" id="{E2094D36-1386-4EC8-AC6D-9C2A56772904}"/>
              </a:ext>
            </a:extLst>
          </p:cNvPr>
          <p:cNvSpPr>
            <a:spLocks noGrp="1"/>
          </p:cNvSpPr>
          <p:nvPr/>
        </p:nvSpPr>
        <p:spPr>
          <a:xfrm>
            <a:off x="628650" y="5972175"/>
            <a:ext cx="10934700" cy="257175"/>
          </a:xfrm>
          <a:prstGeom prst="rect">
            <a:avLst/>
          </a:prstGeom>
        </p:spPr>
        <p:txBody>
          <a:bodyPr lIns="0" tIns="0" rIns="0" bIns="0"/>
          <a:lstStyle/>
          <a:p>
            <a:pPr>
              <a:defRPr sz="1350" b="0">
                <a:solidFill>
                  <a:srgbClr val="5C6C70"/>
                </a:solidFill>
                <a:latin typeface="Arial"/>
                <a:ea typeface="Arial"/>
                <a:cs typeface="Arial"/>
              </a:defRPr>
            </a:pPr>
            <a:r>
              <a:t>40 training epochs · train 2015–20 · validation 2021 · test 2022 · same frozen weights for attacks</a:t>
            </a:r>
          </a:p>
        </p:txBody>
      </p:sp>
    </p:spTree>
    <p:extLst>
      <p:ext uri="{BB962C8B-B14F-4D97-AF65-F5344CB8AC3E}">
        <p14:creationId xmlns:p14="http://schemas.microsoft.com/office/powerpoint/2010/main" val="185993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kicker-marker">
            <a:extLst>
              <a:ext uri="{FF2B5EF4-FFF2-40B4-BE49-F238E27FC236}">
                <a16:creationId xmlns:a16="http://schemas.microsoft.com/office/drawing/2014/main" id="{BD4366A4-4462-4E05-921B-E97097E3B28B}"/>
              </a:ext>
            </a:extLst>
          </p:cNvPr>
          <p:cNvSpPr>
            <a:spLocks noGrp="1"/>
          </p:cNvSpPr>
          <p:nvPr/>
        </p:nvSpPr>
        <p:spPr>
          <a:xfrm>
            <a:off x="628650" y="400050"/>
            <a:ext cx="57150" cy="57150"/>
          </a:xfrm>
          <a:prstGeom prst="rect">
            <a:avLst/>
          </a:prstGeom>
          <a:solidFill>
            <a:srgbClr val="566F69"/>
          </a:solidFill>
          <a:ln w="0">
            <a:solidFill>
              <a:srgbClr val="566F69"/>
            </a:solidFill>
            <a:prstDash val="solid"/>
          </a:ln>
        </p:spPr>
        <p:txBody>
          <a:bodyPr/>
          <a:lstStyle/>
          <a:p>
            <a:endParaRPr lang="zh-CN" altLang="en-US"/>
          </a:p>
        </p:txBody>
      </p:sp>
      <p:sp>
        <p:nvSpPr>
          <p:cNvPr id="2" name="kicker-label">
            <a:extLst>
              <a:ext uri="{FF2B5EF4-FFF2-40B4-BE49-F238E27FC236}">
                <a16:creationId xmlns:a16="http://schemas.microsoft.com/office/drawing/2014/main" id="{DB26F55A-5BAE-4E08-8C0F-C4B2A7C1A0BA}"/>
              </a:ext>
            </a:extLst>
          </p:cNvPr>
          <p:cNvSpPr>
            <a:spLocks noGrp="1"/>
          </p:cNvSpPr>
          <p:nvPr/>
        </p:nvSpPr>
        <p:spPr>
          <a:xfrm>
            <a:off x="800100" y="285750"/>
            <a:ext cx="10287000" cy="285750"/>
          </a:xfrm>
          <a:prstGeom prst="rect">
            <a:avLst/>
          </a:prstGeom>
        </p:spPr>
        <p:txBody>
          <a:bodyPr lIns="0" tIns="0" rIns="0" bIns="0"/>
          <a:lstStyle/>
          <a:p>
            <a:pPr>
              <a:defRPr sz="1275" b="1">
                <a:solidFill>
                  <a:srgbClr val="566F69"/>
                </a:solidFill>
                <a:latin typeface="Arial"/>
                <a:ea typeface="Arial"/>
                <a:cs typeface="Arial"/>
              </a:defRPr>
            </a:pPr>
            <a:r>
              <a:t>OUR CNN • FIXED-STEP ATTACK COMPARISON</a:t>
            </a:r>
          </a:p>
        </p:txBody>
      </p:sp>
      <p:sp>
        <p:nvSpPr>
          <p:cNvPr id="3" name="title">
            <a:extLst>
              <a:ext uri="{FF2B5EF4-FFF2-40B4-BE49-F238E27FC236}">
                <a16:creationId xmlns:a16="http://schemas.microsoft.com/office/drawing/2014/main" id="{202573A3-CF0F-4519-97D4-5F4A7B79308B}"/>
              </a:ext>
            </a:extLst>
          </p:cNvPr>
          <p:cNvSpPr>
            <a:spLocks noGrp="1"/>
          </p:cNvSpPr>
          <p:nvPr/>
        </p:nvSpPr>
        <p:spPr>
          <a:xfrm>
            <a:off x="628650" y="790575"/>
            <a:ext cx="10953750" cy="904875"/>
          </a:xfrm>
          <a:prstGeom prst="rect">
            <a:avLst/>
          </a:prstGeom>
        </p:spPr>
        <p:txBody>
          <a:bodyPr lIns="0" tIns="0" rIns="0" bIns="0"/>
          <a:lstStyle/>
          <a:p>
            <a:pPr>
              <a:defRPr sz="2850" b="0">
                <a:solidFill>
                  <a:srgbClr val="182C32"/>
                </a:solidFill>
                <a:latin typeface="Georgia"/>
                <a:ea typeface="Georgia"/>
                <a:cs typeface="Georgia"/>
              </a:defRPr>
            </a:pPr>
            <a:r>
              <a:t>Repeated attacks separate at a looser ±2 K limit</a:t>
            </a:r>
          </a:p>
        </p:txBody>
      </p:sp>
      <p:sp>
        <p:nvSpPr>
          <p:cNvPr id="4" name="footer-rule">
            <a:extLst>
              <a:ext uri="{FF2B5EF4-FFF2-40B4-BE49-F238E27FC236}">
                <a16:creationId xmlns:a16="http://schemas.microsoft.com/office/drawing/2014/main" id="{8C6FF4A1-D424-4A91-A017-004A65B3166E}"/>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lang="zh-CN" altLang="en-US"/>
          </a:p>
        </p:txBody>
      </p:sp>
      <p:sp>
        <p:nvSpPr>
          <p:cNvPr id="5" name="source">
            <a:extLst>
              <a:ext uri="{FF2B5EF4-FFF2-40B4-BE49-F238E27FC236}">
                <a16:creationId xmlns:a16="http://schemas.microsoft.com/office/drawing/2014/main" id="{54CFAF8D-49B2-4580-8AA1-9A0E1991E197}"/>
              </a:ext>
            </a:extLst>
          </p:cNvPr>
          <p:cNvSpPr>
            <a:spLocks noGrp="1"/>
          </p:cNvSpPr>
          <p:nvPr/>
        </p:nvSpPr>
        <p:spPr>
          <a:xfrm>
            <a:off x="628650" y="6477000"/>
            <a:ext cx="10287000" cy="238125"/>
          </a:xfrm>
          <a:prstGeom prst="rect">
            <a:avLst/>
          </a:prstGeom>
        </p:spPr>
        <p:txBody>
          <a:bodyPr lIns="0" tIns="0" rIns="0" bIns="0"/>
          <a:lstStyle/>
          <a:p>
            <a:pPr>
              <a:defRPr sz="900" b="0">
                <a:solidFill>
                  <a:srgbClr val="5C6C70"/>
                </a:solidFill>
                <a:latin typeface="Arial"/>
                <a:ea typeface="Arial"/>
                <a:cs typeface="Arial"/>
              </a:defRPr>
            </a:pPr>
            <a:r>
              <a:t>Own experiments • fixed_step_attacks_2K/ • 1,458 test cases; budget chosen on validation</a:t>
            </a:r>
          </a:p>
        </p:txBody>
      </p:sp>
      <p:sp>
        <p:nvSpPr>
          <p:cNvPr id="6" name="page">
            <a:extLst>
              <a:ext uri="{FF2B5EF4-FFF2-40B4-BE49-F238E27FC236}">
                <a16:creationId xmlns:a16="http://schemas.microsoft.com/office/drawing/2014/main" id="{5C9B66BD-B536-4E09-9E64-C39207F1C4AD}"/>
              </a:ext>
            </a:extLst>
          </p:cNvPr>
          <p:cNvSpPr>
            <a:spLocks noGrp="1"/>
          </p:cNvSpPr>
          <p:nvPr/>
        </p:nvSpPr>
        <p:spPr>
          <a:xfrm>
            <a:off x="11125200" y="6448425"/>
            <a:ext cx="476250" cy="266700"/>
          </a:xfrm>
          <a:prstGeom prst="rect">
            <a:avLst/>
          </a:prstGeom>
        </p:spPr>
        <p:txBody>
          <a:bodyPr lIns="0" tIns="0" rIns="0" bIns="0"/>
          <a:lstStyle/>
          <a:p>
            <a:pPr>
              <a:defRPr sz="1200" b="0">
                <a:solidFill>
                  <a:srgbClr val="5C6C70"/>
                </a:solidFill>
                <a:latin typeface="Arial"/>
                <a:ea typeface="Arial"/>
                <a:cs typeface="Arial"/>
              </a:defRPr>
            </a:pPr>
            <a:r>
              <a:t>08</a:t>
            </a:r>
          </a:p>
        </p:txBody>
      </p:sp>
      <p:pic>
        <p:nvPicPr>
          <p:cNvPr id="15" name="Fixed-step FGSM PGD MI-FGSM at 2 Kelvin"/>
          <p:cNvPicPr>
            <a:picLocks noChangeAspect="1"/>
          </p:cNvPicPr>
          <p:nvPr/>
        </p:nvPicPr>
        <p:blipFill>
          <a:blip r:embed="rId3"/>
          <a:stretch/>
        </p:blipFill>
        <p:spPr>
          <a:xfrm>
            <a:off x="647700" y="1724025"/>
            <a:ext cx="10896600" cy="4191000"/>
          </a:xfrm>
          <a:prstGeom prst="rect">
            <a:avLst/>
          </a:prstGeom>
        </p:spPr>
      </p:pic>
      <p:sp>
        <p:nvSpPr>
          <p:cNvPr id="8" name="interpretation">
            <a:extLst>
              <a:ext uri="{FF2B5EF4-FFF2-40B4-BE49-F238E27FC236}">
                <a16:creationId xmlns:a16="http://schemas.microsoft.com/office/drawing/2014/main" id="{A258B26D-357F-44EF-9251-4C1969E9F47A}"/>
              </a:ext>
            </a:extLst>
          </p:cNvPr>
          <p:cNvSpPr>
            <a:spLocks noGrp="1"/>
          </p:cNvSpPr>
          <p:nvPr/>
        </p:nvSpPr>
        <p:spPr>
          <a:xfrm>
            <a:off x="628650" y="6038850"/>
            <a:ext cx="10934700" cy="238125"/>
          </a:xfrm>
          <a:prstGeom prst="rect">
            <a:avLst/>
          </a:prstGeom>
        </p:spPr>
        <p:txBody>
          <a:bodyPr lIns="0" tIns="0" rIns="0" bIns="0"/>
          <a:lstStyle/>
          <a:p>
            <a:pPr>
              <a:defRPr sz="1425" b="0">
                <a:solidFill>
                  <a:srgbClr val="5C6C70"/>
                </a:solidFill>
                <a:latin typeface="Arial"/>
                <a:ea typeface="Arial"/>
                <a:cs typeface="Arial"/>
              </a:defRPr>
            </a:pPr>
            <a:r>
              <a:t>40 updates: PGD adds 0.031 K above FGSM; MI-FGSM adds 0.016 K. Limit is 20× the original.</a:t>
            </a:r>
          </a:p>
        </p:txBody>
      </p:sp>
    </p:spTree>
    <p:extLst>
      <p:ext uri="{BB962C8B-B14F-4D97-AF65-F5344CB8AC3E}">
        <p14:creationId xmlns:p14="http://schemas.microsoft.com/office/powerpoint/2010/main" val="84841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8" name="kicker-marker">
            <a:extLst>
              <a:ext uri="{FF2B5EF4-FFF2-40B4-BE49-F238E27FC236}">
                <a16:creationId xmlns:a16="http://schemas.microsoft.com/office/drawing/2014/main" id="{BF199AC7-1506-40B8-A0FE-174BE6885226}"/>
              </a:ext>
            </a:extLst>
          </p:cNvPr>
          <p:cNvSpPr>
            <a:spLocks noGrp="1"/>
          </p:cNvSpPr>
          <p:nvPr/>
        </p:nvSpPr>
        <p:spPr>
          <a:xfrm>
            <a:off x="628650" y="400050"/>
            <a:ext cx="57150" cy="57150"/>
          </a:xfrm>
          <a:prstGeom prst="rect">
            <a:avLst/>
          </a:prstGeom>
          <a:solidFill>
            <a:srgbClr val="566F69"/>
          </a:solidFill>
          <a:ln w="0">
            <a:solidFill>
              <a:srgbClr val="566F69"/>
            </a:solidFill>
            <a:prstDash val="solid"/>
          </a:ln>
        </p:spPr>
        <p:txBody>
          <a:bodyPr/>
          <a:lstStyle/>
          <a:p>
            <a:endParaRPr lang="zh-CN" altLang="en-US"/>
          </a:p>
        </p:txBody>
      </p:sp>
      <p:sp>
        <p:nvSpPr>
          <p:cNvPr id="2" name="kicker-label">
            <a:extLst>
              <a:ext uri="{FF2B5EF4-FFF2-40B4-BE49-F238E27FC236}">
                <a16:creationId xmlns:a16="http://schemas.microsoft.com/office/drawing/2014/main" id="{C3FD396E-BD0D-4928-B477-C061F6E419BA}"/>
              </a:ext>
            </a:extLst>
          </p:cNvPr>
          <p:cNvSpPr>
            <a:spLocks noGrp="1"/>
          </p:cNvSpPr>
          <p:nvPr/>
        </p:nvSpPr>
        <p:spPr>
          <a:xfrm>
            <a:off x="800100" y="285750"/>
            <a:ext cx="10287000" cy="285750"/>
          </a:xfrm>
          <a:prstGeom prst="rect">
            <a:avLst/>
          </a:prstGeom>
        </p:spPr>
        <p:txBody>
          <a:bodyPr lIns="0" tIns="0" rIns="0" bIns="0"/>
          <a:lstStyle/>
          <a:p>
            <a:pPr>
              <a:defRPr sz="1275" b="1">
                <a:solidFill>
                  <a:srgbClr val="566F69"/>
                </a:solidFill>
                <a:latin typeface="Arial"/>
                <a:ea typeface="Arial"/>
                <a:cs typeface="Arial"/>
              </a:defRPr>
            </a:pPr>
            <a:r>
              <a:t>OUR CNN • FORECAST-LOSS WINDOWS</a:t>
            </a:r>
          </a:p>
        </p:txBody>
      </p:sp>
      <p:sp>
        <p:nvSpPr>
          <p:cNvPr id="3" name="title">
            <a:extLst>
              <a:ext uri="{FF2B5EF4-FFF2-40B4-BE49-F238E27FC236}">
                <a16:creationId xmlns:a16="http://schemas.microsoft.com/office/drawing/2014/main" id="{EF98C942-E632-493E-A52A-FD84935E8BB2}"/>
              </a:ext>
            </a:extLst>
          </p:cNvPr>
          <p:cNvSpPr>
            <a:spLocks noGrp="1"/>
          </p:cNvSpPr>
          <p:nvPr/>
        </p:nvSpPr>
        <p:spPr>
          <a:xfrm>
            <a:off x="628650" y="790575"/>
            <a:ext cx="10953750" cy="904875"/>
          </a:xfrm>
          <a:prstGeom prst="rect">
            <a:avLst/>
          </a:prstGeom>
        </p:spPr>
        <p:txBody>
          <a:bodyPr lIns="0" tIns="0" rIns="0" bIns="0"/>
          <a:lstStyle/>
          <a:p>
            <a:pPr>
              <a:defRPr sz="2850" b="0">
                <a:solidFill>
                  <a:srgbClr val="182C32"/>
                </a:solidFill>
                <a:latin typeface="Georgia"/>
                <a:ea typeface="Georgia"/>
                <a:cs typeface="Georgia"/>
              </a:defRPr>
            </a:pPr>
            <a:r>
              <a:t>Longer loss windows reveal a larger PGD advantage</a:t>
            </a:r>
          </a:p>
        </p:txBody>
      </p:sp>
      <p:sp>
        <p:nvSpPr>
          <p:cNvPr id="4" name="footer-rule">
            <a:extLst>
              <a:ext uri="{FF2B5EF4-FFF2-40B4-BE49-F238E27FC236}">
                <a16:creationId xmlns:a16="http://schemas.microsoft.com/office/drawing/2014/main" id="{32CE8B43-2D96-45F1-8C08-73DFB6E7FDB6}"/>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lang="zh-CN" altLang="en-US"/>
          </a:p>
        </p:txBody>
      </p:sp>
      <p:sp>
        <p:nvSpPr>
          <p:cNvPr id="5" name="source">
            <a:extLst>
              <a:ext uri="{FF2B5EF4-FFF2-40B4-BE49-F238E27FC236}">
                <a16:creationId xmlns:a16="http://schemas.microsoft.com/office/drawing/2014/main" id="{CB3BEB9F-CA56-4839-82D2-D1DAB9EE4CBE}"/>
              </a:ext>
            </a:extLst>
          </p:cNvPr>
          <p:cNvSpPr>
            <a:spLocks noGrp="1"/>
          </p:cNvSpPr>
          <p:nvPr/>
        </p:nvSpPr>
        <p:spPr>
          <a:xfrm>
            <a:off x="628650" y="6477000"/>
            <a:ext cx="10287000" cy="238125"/>
          </a:xfrm>
          <a:prstGeom prst="rect">
            <a:avLst/>
          </a:prstGeom>
        </p:spPr>
        <p:txBody>
          <a:bodyPr lIns="0" tIns="0" rIns="0" bIns="0"/>
          <a:lstStyle/>
          <a:p>
            <a:pPr>
              <a:defRPr sz="900" b="0">
                <a:solidFill>
                  <a:srgbClr val="5C6C70"/>
                </a:solidFill>
                <a:latin typeface="Arial"/>
                <a:ea typeface="Arial"/>
                <a:cs typeface="Arial"/>
              </a:defRPr>
            </a:pPr>
            <a:r>
              <a:t>Own experiments • rollout_windows_2K/ • same 1,439 complete 2022 cases</a:t>
            </a:r>
          </a:p>
        </p:txBody>
      </p:sp>
      <p:sp>
        <p:nvSpPr>
          <p:cNvPr id="6" name="page">
            <a:extLst>
              <a:ext uri="{FF2B5EF4-FFF2-40B4-BE49-F238E27FC236}">
                <a16:creationId xmlns:a16="http://schemas.microsoft.com/office/drawing/2014/main" id="{86257872-1B64-4E11-8814-2BC3E8557AB2}"/>
              </a:ext>
            </a:extLst>
          </p:cNvPr>
          <p:cNvSpPr>
            <a:spLocks noGrp="1"/>
          </p:cNvSpPr>
          <p:nvPr/>
        </p:nvSpPr>
        <p:spPr>
          <a:xfrm>
            <a:off x="11125200" y="6448425"/>
            <a:ext cx="476250" cy="266700"/>
          </a:xfrm>
          <a:prstGeom prst="rect">
            <a:avLst/>
          </a:prstGeom>
        </p:spPr>
        <p:txBody>
          <a:bodyPr lIns="0" tIns="0" rIns="0" bIns="0"/>
          <a:lstStyle/>
          <a:p>
            <a:pPr>
              <a:defRPr sz="1200" b="0">
                <a:solidFill>
                  <a:srgbClr val="5C6C70"/>
                </a:solidFill>
                <a:latin typeface="Arial"/>
                <a:ea typeface="Arial"/>
                <a:cs typeface="Arial"/>
              </a:defRPr>
            </a:pPr>
            <a:r>
              <a:t>09</a:t>
            </a:r>
          </a:p>
        </p:txBody>
      </p:sp>
      <p:sp>
        <p:nvSpPr>
          <p:cNvPr id="7" name="setup">
            <a:extLst>
              <a:ext uri="{FF2B5EF4-FFF2-40B4-BE49-F238E27FC236}">
                <a16:creationId xmlns:a16="http://schemas.microsoft.com/office/drawing/2014/main" id="{5B6A275C-79A1-4575-8410-48FAB0427E98}"/>
              </a:ext>
            </a:extLst>
          </p:cNvPr>
          <p:cNvSpPr>
            <a:spLocks noGrp="1"/>
          </p:cNvSpPr>
          <p:nvPr/>
        </p:nvSpPr>
        <p:spPr>
          <a:xfrm>
            <a:off x="628650" y="1809750"/>
            <a:ext cx="10934700" cy="304800"/>
          </a:xfrm>
          <a:prstGeom prst="rect">
            <a:avLst/>
          </a:prstGeom>
        </p:spPr>
        <p:txBody>
          <a:bodyPr lIns="0" tIns="0" rIns="0" bIns="0"/>
          <a:lstStyle/>
          <a:p>
            <a:pPr>
              <a:defRPr sz="1650" b="0">
                <a:solidFill>
                  <a:srgbClr val="182C32"/>
                </a:solidFill>
                <a:latin typeface="Arial"/>
                <a:ea typeface="Arial"/>
                <a:cs typeface="Arial"/>
              </a:defRPr>
            </a:pPr>
            <a:r>
              <a:t>Same frozen CNN · ±2 K on initial current T2m only · loss windows: 6 / 24 / 72h</a:t>
            </a:r>
          </a:p>
        </p:txBody>
      </p:sp>
      <p:pic>
        <p:nvPicPr>
          <p:cNvPr id="17" name="FGSM versus PGD across all three forecast loss windows"/>
          <p:cNvPicPr>
            <a:picLocks noChangeAspect="1"/>
          </p:cNvPicPr>
          <p:nvPr/>
        </p:nvPicPr>
        <p:blipFill>
          <a:blip r:embed="rId2"/>
          <a:stretch/>
        </p:blipFill>
        <p:spPr>
          <a:xfrm>
            <a:off x="1181100" y="2200275"/>
            <a:ext cx="9829800" cy="3686175"/>
          </a:xfrm>
          <a:prstGeom prst="rect">
            <a:avLst/>
          </a:prstGeom>
        </p:spPr>
      </p:pic>
      <p:sp>
        <p:nvSpPr>
          <p:cNvPr id="9" name="interpretation">
            <a:extLst>
              <a:ext uri="{FF2B5EF4-FFF2-40B4-BE49-F238E27FC236}">
                <a16:creationId xmlns:a16="http://schemas.microsoft.com/office/drawing/2014/main" id="{75A19F77-5E93-4B5A-BFCC-8FD103E2A74C}"/>
              </a:ext>
            </a:extLst>
          </p:cNvPr>
          <p:cNvSpPr>
            <a:spLocks noGrp="1"/>
          </p:cNvSpPr>
          <p:nvPr/>
        </p:nvSpPr>
        <p:spPr>
          <a:xfrm>
            <a:off x="628650" y="6010275"/>
            <a:ext cx="10934700" cy="266700"/>
          </a:xfrm>
          <a:prstGeom prst="rect">
            <a:avLst/>
          </a:prstGeom>
        </p:spPr>
        <p:txBody>
          <a:bodyPr lIns="0" tIns="0" rIns="0" bIns="0"/>
          <a:lstStyle/>
          <a:p>
            <a:pPr>
              <a:defRPr sz="1425" b="0">
                <a:solidFill>
                  <a:srgbClr val="5C6C70"/>
                </a:solidFill>
                <a:latin typeface="Arial"/>
                <a:ea typeface="Arial"/>
                <a:cs typeface="Arial"/>
              </a:defRPr>
            </a:pPr>
            <a:r>
              <a:t>Both panels share the same vertical scale. Stars mark loss-window ends; forecasts continue to 120h.</a:t>
            </a:r>
          </a:p>
        </p:txBody>
      </p:sp>
    </p:spTree>
    <p:extLst>
      <p:ext uri="{BB962C8B-B14F-4D97-AF65-F5344CB8AC3E}">
        <p14:creationId xmlns:p14="http://schemas.microsoft.com/office/powerpoint/2010/main" val="1293663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7" name="kicker-marker">
            <a:extLst>
              <a:ext uri="{FF2B5EF4-FFF2-40B4-BE49-F238E27FC236}">
                <a16:creationId xmlns:a16="http://schemas.microsoft.com/office/drawing/2014/main" id="{F5D93DA4-F5BB-44F3-B6B0-149162719F84}"/>
              </a:ext>
            </a:extLst>
          </p:cNvPr>
          <p:cNvSpPr>
            <a:spLocks noGrp="1"/>
          </p:cNvSpPr>
          <p:nvPr/>
        </p:nvSpPr>
        <p:spPr>
          <a:xfrm>
            <a:off x="628650" y="400050"/>
            <a:ext cx="57150" cy="57150"/>
          </a:xfrm>
          <a:prstGeom prst="rect">
            <a:avLst/>
          </a:prstGeom>
          <a:solidFill>
            <a:srgbClr val="566F69"/>
          </a:solidFill>
          <a:ln w="0">
            <a:solidFill>
              <a:srgbClr val="566F69"/>
            </a:solidFill>
            <a:prstDash val="solid"/>
          </a:ln>
        </p:spPr>
        <p:txBody>
          <a:bodyPr/>
          <a:lstStyle/>
          <a:p>
            <a:endParaRPr lang="zh-CN" altLang="en-US"/>
          </a:p>
        </p:txBody>
      </p:sp>
      <p:sp>
        <p:nvSpPr>
          <p:cNvPr id="2" name="kicker-label">
            <a:extLst>
              <a:ext uri="{FF2B5EF4-FFF2-40B4-BE49-F238E27FC236}">
                <a16:creationId xmlns:a16="http://schemas.microsoft.com/office/drawing/2014/main" id="{382C5E47-E602-41F6-8FD6-F20EC5758882}"/>
              </a:ext>
            </a:extLst>
          </p:cNvPr>
          <p:cNvSpPr>
            <a:spLocks noGrp="1"/>
          </p:cNvSpPr>
          <p:nvPr/>
        </p:nvSpPr>
        <p:spPr>
          <a:xfrm>
            <a:off x="800100" y="285750"/>
            <a:ext cx="10287000" cy="285750"/>
          </a:xfrm>
          <a:prstGeom prst="rect">
            <a:avLst/>
          </a:prstGeom>
        </p:spPr>
        <p:txBody>
          <a:bodyPr lIns="0" tIns="0" rIns="0" bIns="0"/>
          <a:lstStyle/>
          <a:p>
            <a:pPr>
              <a:defRPr sz="1275" b="1">
                <a:solidFill>
                  <a:srgbClr val="566F69"/>
                </a:solidFill>
                <a:latin typeface="Arial"/>
                <a:ea typeface="Arial"/>
                <a:cs typeface="Arial"/>
              </a:defRPr>
            </a:pPr>
            <a:r>
              <a:t>OUR CNN • METHOD DIFFERENCE THROUGH TIME</a:t>
            </a:r>
          </a:p>
        </p:txBody>
      </p:sp>
      <p:sp>
        <p:nvSpPr>
          <p:cNvPr id="3" name="title">
            <a:extLst>
              <a:ext uri="{FF2B5EF4-FFF2-40B4-BE49-F238E27FC236}">
                <a16:creationId xmlns:a16="http://schemas.microsoft.com/office/drawing/2014/main" id="{52FA42B5-5CAF-4CE9-A989-0034FB953394}"/>
              </a:ext>
            </a:extLst>
          </p:cNvPr>
          <p:cNvSpPr>
            <a:spLocks noGrp="1"/>
          </p:cNvSpPr>
          <p:nvPr/>
        </p:nvSpPr>
        <p:spPr>
          <a:xfrm>
            <a:off x="685800" y="909638"/>
            <a:ext cx="10953750" cy="904875"/>
          </a:xfrm>
          <a:prstGeom prst="rect">
            <a:avLst/>
          </a:prstGeom>
        </p:spPr>
        <p:txBody>
          <a:bodyPr lIns="0" tIns="0" rIns="0" bIns="0"/>
          <a:lstStyle/>
          <a:p>
            <a:pPr>
              <a:defRPr sz="2850" b="0">
                <a:solidFill>
                  <a:srgbClr val="182C32"/>
                </a:solidFill>
                <a:latin typeface="Georgia"/>
                <a:ea typeface="Georgia"/>
                <a:cs typeface="Georgia"/>
              </a:defRPr>
            </a:pPr>
            <a:r>
              <a:t>PGD’s added effect depends on the forecast horizon</a:t>
            </a:r>
          </a:p>
        </p:txBody>
      </p:sp>
      <p:sp>
        <p:nvSpPr>
          <p:cNvPr id="4" name="footer-rule">
            <a:extLst>
              <a:ext uri="{FF2B5EF4-FFF2-40B4-BE49-F238E27FC236}">
                <a16:creationId xmlns:a16="http://schemas.microsoft.com/office/drawing/2014/main" id="{78E50F6B-E492-486C-9000-499FC6E07489}"/>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lang="zh-CN" altLang="en-US"/>
          </a:p>
        </p:txBody>
      </p:sp>
      <p:sp>
        <p:nvSpPr>
          <p:cNvPr id="5" name="source">
            <a:extLst>
              <a:ext uri="{FF2B5EF4-FFF2-40B4-BE49-F238E27FC236}">
                <a16:creationId xmlns:a16="http://schemas.microsoft.com/office/drawing/2014/main" id="{5FE681C7-0105-44B1-9112-A78E6B5CAFFD}"/>
              </a:ext>
            </a:extLst>
          </p:cNvPr>
          <p:cNvSpPr>
            <a:spLocks noGrp="1"/>
          </p:cNvSpPr>
          <p:nvPr/>
        </p:nvSpPr>
        <p:spPr>
          <a:xfrm>
            <a:off x="628650" y="6477000"/>
            <a:ext cx="10287000" cy="238125"/>
          </a:xfrm>
          <a:prstGeom prst="rect">
            <a:avLst/>
          </a:prstGeom>
        </p:spPr>
        <p:txBody>
          <a:bodyPr lIns="0" tIns="0" rIns="0" bIns="0"/>
          <a:lstStyle/>
          <a:p>
            <a:pPr>
              <a:defRPr sz="900" b="0">
                <a:solidFill>
                  <a:srgbClr val="5C6C70"/>
                </a:solidFill>
                <a:latin typeface="Arial"/>
                <a:ea typeface="Arial"/>
                <a:cs typeface="Arial"/>
              </a:defRPr>
            </a:pPr>
            <a:r>
              <a:t>Own experiments • rollout_windows_2K/window_objective_scores.csv; lead_time_metrics.csv</a:t>
            </a:r>
          </a:p>
        </p:txBody>
      </p:sp>
      <p:sp>
        <p:nvSpPr>
          <p:cNvPr id="6" name="page">
            <a:extLst>
              <a:ext uri="{FF2B5EF4-FFF2-40B4-BE49-F238E27FC236}">
                <a16:creationId xmlns:a16="http://schemas.microsoft.com/office/drawing/2014/main" id="{EB9B6021-2E25-483E-AA4D-62D1A94C89F1}"/>
              </a:ext>
            </a:extLst>
          </p:cNvPr>
          <p:cNvSpPr>
            <a:spLocks noGrp="1"/>
          </p:cNvSpPr>
          <p:nvPr/>
        </p:nvSpPr>
        <p:spPr>
          <a:xfrm>
            <a:off x="11125200" y="6448425"/>
            <a:ext cx="476250" cy="266700"/>
          </a:xfrm>
          <a:prstGeom prst="rect">
            <a:avLst/>
          </a:prstGeom>
        </p:spPr>
        <p:txBody>
          <a:bodyPr lIns="0" tIns="0" rIns="0" bIns="0"/>
          <a:lstStyle/>
          <a:p>
            <a:pPr>
              <a:defRPr sz="1200" b="0">
                <a:solidFill>
                  <a:srgbClr val="5C6C70"/>
                </a:solidFill>
                <a:latin typeface="Arial"/>
                <a:ea typeface="Arial"/>
                <a:cs typeface="Arial"/>
              </a:defRPr>
            </a:pPr>
            <a:r>
              <a:t>10</a:t>
            </a:r>
          </a:p>
        </p:txBody>
      </p:sp>
      <p:pic>
        <p:nvPicPr>
          <p:cNvPr id="20" name="PGD minus FGSM forecast error at matched limits"/>
          <p:cNvPicPr>
            <a:picLocks noChangeAspect="1"/>
          </p:cNvPicPr>
          <p:nvPr/>
        </p:nvPicPr>
        <p:blipFill>
          <a:blip r:embed="rId2"/>
          <a:stretch/>
        </p:blipFill>
        <p:spPr>
          <a:xfrm>
            <a:off x="628650" y="1981200"/>
            <a:ext cx="7429500" cy="3714750"/>
          </a:xfrm>
          <a:prstGeom prst="rect">
            <a:avLst/>
          </a:prstGeom>
        </p:spPr>
      </p:pic>
      <p:sp>
        <p:nvSpPr>
          <p:cNvPr id="8" name="score-header">
            <a:extLst>
              <a:ext uri="{FF2B5EF4-FFF2-40B4-BE49-F238E27FC236}">
                <a16:creationId xmlns:a16="http://schemas.microsoft.com/office/drawing/2014/main" id="{68C2A693-F25B-445B-A2FB-8CCA0AC9C8E6}"/>
              </a:ext>
            </a:extLst>
          </p:cNvPr>
          <p:cNvSpPr>
            <a:spLocks noGrp="1"/>
          </p:cNvSpPr>
          <p:nvPr/>
        </p:nvSpPr>
        <p:spPr>
          <a:xfrm>
            <a:off x="8334375" y="2047875"/>
            <a:ext cx="3238500" cy="552450"/>
          </a:xfrm>
          <a:prstGeom prst="rect">
            <a:avLst/>
          </a:prstGeom>
        </p:spPr>
        <p:txBody>
          <a:bodyPr lIns="0" tIns="0" rIns="0" bIns="0"/>
          <a:lstStyle/>
          <a:p>
            <a:pPr>
              <a:defRPr sz="1725" b="1">
                <a:solidFill>
                  <a:srgbClr val="566F69"/>
                </a:solidFill>
                <a:latin typeface="Arial"/>
                <a:ea typeface="Arial"/>
                <a:cs typeface="Arial"/>
              </a:defRPr>
            </a:pPr>
            <a:r>
              <a:t>72h loss: pooled window RMSE</a:t>
            </a:r>
          </a:p>
        </p:txBody>
      </p:sp>
      <p:sp>
        <p:nvSpPr>
          <p:cNvPr id="9" name="fgsm-score">
            <a:extLst>
              <a:ext uri="{FF2B5EF4-FFF2-40B4-BE49-F238E27FC236}">
                <a16:creationId xmlns:a16="http://schemas.microsoft.com/office/drawing/2014/main" id="{EE6ACF3A-6F13-496B-80BB-06203E1804ED}"/>
              </a:ext>
            </a:extLst>
          </p:cNvPr>
          <p:cNvSpPr>
            <a:spLocks noGrp="1"/>
          </p:cNvSpPr>
          <p:nvPr/>
        </p:nvSpPr>
        <p:spPr>
          <a:xfrm>
            <a:off x="8334375" y="2809875"/>
            <a:ext cx="3238500" cy="381000"/>
          </a:xfrm>
          <a:prstGeom prst="rect">
            <a:avLst/>
          </a:prstGeom>
        </p:spPr>
        <p:txBody>
          <a:bodyPr lIns="0" tIns="0" rIns="0" bIns="0"/>
          <a:lstStyle/>
          <a:p>
            <a:pPr>
              <a:defRPr sz="1875" b="0">
                <a:solidFill>
                  <a:srgbClr val="182C32"/>
                </a:solidFill>
                <a:latin typeface="Arial"/>
                <a:ea typeface="Arial"/>
                <a:cs typeface="Arial"/>
              </a:defRPr>
            </a:pPr>
            <a:r>
              <a:t>FGSM: 4.069 K</a:t>
            </a:r>
          </a:p>
        </p:txBody>
      </p:sp>
      <p:sp>
        <p:nvSpPr>
          <p:cNvPr id="10" name="pgd-score">
            <a:extLst>
              <a:ext uri="{FF2B5EF4-FFF2-40B4-BE49-F238E27FC236}">
                <a16:creationId xmlns:a16="http://schemas.microsoft.com/office/drawing/2014/main" id="{8E8DF8AF-1BE3-41E7-AF4A-A43171E98AE2}"/>
              </a:ext>
            </a:extLst>
          </p:cNvPr>
          <p:cNvSpPr>
            <a:spLocks noGrp="1"/>
          </p:cNvSpPr>
          <p:nvPr/>
        </p:nvSpPr>
        <p:spPr>
          <a:xfrm>
            <a:off x="8334375" y="3286125"/>
            <a:ext cx="3238500" cy="381000"/>
          </a:xfrm>
          <a:prstGeom prst="rect">
            <a:avLst/>
          </a:prstGeom>
        </p:spPr>
        <p:txBody>
          <a:bodyPr lIns="0" tIns="0" rIns="0" bIns="0"/>
          <a:lstStyle/>
          <a:p>
            <a:pPr>
              <a:defRPr sz="1875" b="0">
                <a:solidFill>
                  <a:srgbClr val="182C32"/>
                </a:solidFill>
                <a:latin typeface="Arial"/>
                <a:ea typeface="Arial"/>
                <a:cs typeface="Arial"/>
              </a:defRPr>
            </a:pPr>
            <a:r>
              <a:t>PGD: 4.923 K</a:t>
            </a:r>
          </a:p>
        </p:txBody>
      </p:sp>
      <p:sp>
        <p:nvSpPr>
          <p:cNvPr id="11" name="endpoint">
            <a:extLst>
              <a:ext uri="{FF2B5EF4-FFF2-40B4-BE49-F238E27FC236}">
                <a16:creationId xmlns:a16="http://schemas.microsoft.com/office/drawing/2014/main" id="{D03730AF-9EF2-4ABB-B3BE-BDABCBB56853}"/>
              </a:ext>
            </a:extLst>
          </p:cNvPr>
          <p:cNvSpPr>
            <a:spLocks noGrp="1"/>
          </p:cNvSpPr>
          <p:nvPr/>
        </p:nvSpPr>
        <p:spPr>
          <a:xfrm>
            <a:off x="8334375" y="4010025"/>
            <a:ext cx="3238500" cy="809625"/>
          </a:xfrm>
          <a:prstGeom prst="rect">
            <a:avLst/>
          </a:prstGeom>
        </p:spPr>
        <p:txBody>
          <a:bodyPr lIns="0" tIns="0" rIns="0" bIns="0"/>
          <a:lstStyle/>
          <a:p>
            <a:pPr>
              <a:defRPr sz="1725" b="0">
                <a:solidFill>
                  <a:srgbClr val="182C32"/>
                </a:solidFill>
                <a:latin typeface="Arial"/>
                <a:ea typeface="Arial"/>
                <a:cs typeface="Arial"/>
              </a:defRPr>
            </a:pPr>
            <a:r>
              <a:t>At 120h: PGD − FGSM 2.109 K</a:t>
            </a:r>
          </a:p>
        </p:txBody>
      </p:sp>
      <p:sp>
        <p:nvSpPr>
          <p:cNvPr id="12" name="threshold-note">
            <a:extLst>
              <a:ext uri="{FF2B5EF4-FFF2-40B4-BE49-F238E27FC236}">
                <a16:creationId xmlns:a16="http://schemas.microsoft.com/office/drawing/2014/main" id="{7A6B9D96-8755-453F-94D3-E6FCC4D4FC2E}"/>
              </a:ext>
            </a:extLst>
          </p:cNvPr>
          <p:cNvSpPr>
            <a:spLocks noGrp="1"/>
          </p:cNvSpPr>
          <p:nvPr/>
        </p:nvSpPr>
        <p:spPr>
          <a:xfrm>
            <a:off x="628650" y="5743575"/>
            <a:ext cx="10934700" cy="285750"/>
          </a:xfrm>
          <a:prstGeom prst="rect">
            <a:avLst/>
          </a:prstGeom>
        </p:spPr>
        <p:txBody>
          <a:bodyPr lIns="0" tIns="0" rIns="0" bIns="0"/>
          <a:lstStyle/>
          <a:p>
            <a:pPr>
              <a:defRPr sz="1500" b="0">
                <a:solidFill>
                  <a:srgbClr val="5C6C70"/>
                </a:solidFill>
                <a:latin typeface="Arial"/>
                <a:ea typeface="Arial"/>
                <a:cs typeface="Arial"/>
              </a:defRPr>
            </a:pPr>
            <a:r>
              <a:t>Positive = PGD caused more error. The attack optimises a window average, not every lead separately.</a:t>
            </a:r>
          </a:p>
        </p:txBody>
      </p:sp>
      <p:sp>
        <p:nvSpPr>
          <p:cNvPr id="13" name="limitation">
            <a:extLst>
              <a:ext uri="{FF2B5EF4-FFF2-40B4-BE49-F238E27FC236}">
                <a16:creationId xmlns:a16="http://schemas.microsoft.com/office/drawing/2014/main" id="{9062EC27-1DC6-4018-9BAE-03F52E05E3DC}"/>
              </a:ext>
            </a:extLst>
          </p:cNvPr>
          <p:cNvSpPr>
            <a:spLocks noGrp="1"/>
          </p:cNvSpPr>
          <p:nvPr/>
        </p:nvSpPr>
        <p:spPr>
          <a:xfrm>
            <a:off x="628650" y="6067425"/>
            <a:ext cx="10934700" cy="228600"/>
          </a:xfrm>
          <a:prstGeom prst="rect">
            <a:avLst/>
          </a:prstGeom>
        </p:spPr>
        <p:txBody>
          <a:bodyPr lIns="0" tIns="0" rIns="0" bIns="0"/>
          <a:lstStyle/>
          <a:p>
            <a:pPr>
              <a:defRPr sz="1350" b="0">
                <a:solidFill>
                  <a:srgbClr val="5C6C70"/>
                </a:solidFill>
                <a:latin typeface="Arial"/>
                <a:ea typeface="Arial"/>
                <a:cs typeface="Arial"/>
              </a:defRPr>
            </a:pPr>
            <a:r>
              <a:t>Clean 120h RMSE: 4.269 K vs 2.984 K for no change. This CNN was trained only one step ahead.</a:t>
            </a:r>
          </a:p>
        </p:txBody>
      </p:sp>
    </p:spTree>
    <p:extLst>
      <p:ext uri="{BB962C8B-B14F-4D97-AF65-F5344CB8AC3E}">
        <p14:creationId xmlns:p14="http://schemas.microsoft.com/office/powerpoint/2010/main" val="2121633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kicker-label">
            <a:extLst>
              <a:ext uri="{FF2B5EF4-FFF2-40B4-BE49-F238E27FC236}">
                <a16:creationId xmlns:a16="http://schemas.microsoft.com/office/drawing/2014/main" id="{B160B0AE-922A-4345-96BC-5248E31E9FDF}"/>
              </a:ext>
            </a:extLst>
          </p:cNvPr>
          <p:cNvSpPr>
            <a:spLocks noGrp="1"/>
          </p:cNvSpPr>
          <p:nvPr/>
        </p:nvSpPr>
        <p:spPr>
          <a:xfrm>
            <a:off x="762000" y="800100"/>
            <a:ext cx="11120260" cy="1533525"/>
          </a:xfrm>
          <a:prstGeom prst="rect">
            <a:avLst/>
          </a:prstGeom>
        </p:spPr>
        <p:txBody>
          <a:bodyPr lIns="0" tIns="0" rIns="0" bIns="0" anchor="ctr"/>
          <a:lstStyle/>
          <a:p>
            <a:pPr>
              <a:buNone/>
              <a:defRPr sz="1125" b="1">
                <a:solidFill>
                  <a:srgbClr val="566F69"/>
                </a:solidFill>
                <a:latin typeface="Arial"/>
                <a:ea typeface="Arial"/>
                <a:cs typeface="Arial"/>
              </a:defRPr>
            </a:pPr>
            <a:r>
              <a:rPr sz="2400" dirty="0"/>
              <a:t>QUESTIONS → NEXT EXPERIMENT</a:t>
            </a:r>
          </a:p>
        </p:txBody>
      </p:sp>
      <p:sp>
        <p:nvSpPr>
          <p:cNvPr id="4" name="shape-138">
            <a:extLst>
              <a:ext uri="{FF2B5EF4-FFF2-40B4-BE49-F238E27FC236}">
                <a16:creationId xmlns:a16="http://schemas.microsoft.com/office/drawing/2014/main" id="{82B726EF-9BB6-425C-A6D5-C7CD49AA515C}"/>
              </a:ext>
            </a:extLst>
          </p:cNvPr>
          <p:cNvSpPr>
            <a:spLocks noGrp="1"/>
          </p:cNvSpPr>
          <p:nvPr/>
        </p:nvSpPr>
        <p:spPr>
          <a:xfrm>
            <a:off x="628650" y="6334125"/>
            <a:ext cx="10934700" cy="9525"/>
          </a:xfrm>
          <a:prstGeom prst="rect">
            <a:avLst/>
          </a:prstGeom>
          <a:solidFill>
            <a:srgbClr val="D1D7D4"/>
          </a:solidFill>
          <a:ln w="0">
            <a:solidFill>
              <a:srgbClr val="D1D7D4"/>
            </a:solidFill>
            <a:prstDash val="solid"/>
          </a:ln>
        </p:spPr>
        <p:txBody>
          <a:bodyPr/>
          <a:lstStyle/>
          <a:p>
            <a:endParaRPr/>
          </a:p>
        </p:txBody>
      </p:sp>
      <p:sp>
        <p:nvSpPr>
          <p:cNvPr id="5" name="text-139">
            <a:extLst>
              <a:ext uri="{FF2B5EF4-FFF2-40B4-BE49-F238E27FC236}">
                <a16:creationId xmlns:a16="http://schemas.microsoft.com/office/drawing/2014/main" id="{8A116492-864B-4307-A33C-DF73CB0D0578}"/>
              </a:ext>
            </a:extLst>
          </p:cNvPr>
          <p:cNvSpPr>
            <a:spLocks noGrp="1"/>
          </p:cNvSpPr>
          <p:nvPr/>
        </p:nvSpPr>
        <p:spPr>
          <a:xfrm>
            <a:off x="628650" y="6477000"/>
            <a:ext cx="10287000" cy="238125"/>
          </a:xfrm>
          <a:prstGeom prst="rect">
            <a:avLst/>
          </a:prstGeom>
        </p:spPr>
        <p:txBody>
          <a:bodyPr lIns="0" tIns="0" rIns="0" bIns="0"/>
          <a:lstStyle/>
          <a:p>
            <a:pPr>
              <a:buNone/>
              <a:defRPr sz="900" b="0">
                <a:solidFill>
                  <a:srgbClr val="5C6C70"/>
                </a:solidFill>
                <a:latin typeface="Arial"/>
                <a:ea typeface="Arial"/>
                <a:cs typeface="Arial"/>
              </a:defRPr>
            </a:pPr>
            <a:r>
              <a:t>Research plan • inspired by FABLE, Forecasting Fails, Otter and Beyond 30 Days</a:t>
            </a:r>
          </a:p>
        </p:txBody>
      </p:sp>
      <p:sp>
        <p:nvSpPr>
          <p:cNvPr id="6" name="text-140">
            <a:extLst>
              <a:ext uri="{FF2B5EF4-FFF2-40B4-BE49-F238E27FC236}">
                <a16:creationId xmlns:a16="http://schemas.microsoft.com/office/drawing/2014/main" id="{1EF0A161-651E-44DA-9BF5-004E4A5A2DA2}"/>
              </a:ext>
            </a:extLst>
          </p:cNvPr>
          <p:cNvSpPr>
            <a:spLocks noGrp="1"/>
          </p:cNvSpPr>
          <p:nvPr/>
        </p:nvSpPr>
        <p:spPr>
          <a:xfrm>
            <a:off x="11125200" y="6448425"/>
            <a:ext cx="476250" cy="266700"/>
          </a:xfrm>
          <a:prstGeom prst="rect">
            <a:avLst/>
          </a:prstGeom>
        </p:spPr>
        <p:txBody>
          <a:bodyPr lIns="0" tIns="0" rIns="0" bIns="0"/>
          <a:lstStyle/>
          <a:p>
            <a:pPr>
              <a:buNone/>
              <a:defRPr sz="1125" b="0">
                <a:solidFill>
                  <a:srgbClr val="182C32"/>
                </a:solidFill>
                <a:latin typeface="Arial"/>
                <a:ea typeface="Arial"/>
                <a:cs typeface="Arial"/>
              </a:defRPr>
            </a:pPr>
            <a:r>
              <a:rPr sz="1125" b="0">
                <a:solidFill>
                  <a:srgbClr val="182C32"/>
                </a:solidFill>
                <a:latin typeface="Arial"/>
                <a:ea typeface="Arial"/>
                <a:cs typeface="Arial"/>
              </a:rPr>
              <a:t>12</a:t>
            </a:r>
          </a:p>
        </p:txBody>
      </p:sp>
      <p:sp>
        <p:nvSpPr>
          <p:cNvPr id="7" name="text-141">
            <a:extLst>
              <a:ext uri="{FF2B5EF4-FFF2-40B4-BE49-F238E27FC236}">
                <a16:creationId xmlns:a16="http://schemas.microsoft.com/office/drawing/2014/main" id="{769253DF-0FCF-474B-8A25-99C30D736F65}"/>
              </a:ext>
            </a:extLst>
          </p:cNvPr>
          <p:cNvSpPr>
            <a:spLocks noGrp="1"/>
          </p:cNvSpPr>
          <p:nvPr/>
        </p:nvSpPr>
        <p:spPr>
          <a:xfrm>
            <a:off x="628650" y="2209800"/>
            <a:ext cx="762000" cy="428625"/>
          </a:xfrm>
          <a:prstGeom prst="rect">
            <a:avLst/>
          </a:prstGeom>
        </p:spPr>
        <p:txBody>
          <a:bodyPr lIns="0" tIns="0" rIns="0" bIns="0"/>
          <a:lstStyle/>
          <a:p>
            <a:pPr>
              <a:buNone/>
              <a:defRPr sz="2250" b="1">
                <a:solidFill>
                  <a:srgbClr val="566F69"/>
                </a:solidFill>
                <a:latin typeface="Arial"/>
                <a:ea typeface="Arial"/>
                <a:cs typeface="Arial"/>
              </a:defRPr>
            </a:pPr>
            <a:r>
              <a:t>01</a:t>
            </a:r>
          </a:p>
        </p:txBody>
      </p:sp>
      <p:sp>
        <p:nvSpPr>
          <p:cNvPr id="8" name="text-142">
            <a:extLst>
              <a:ext uri="{FF2B5EF4-FFF2-40B4-BE49-F238E27FC236}">
                <a16:creationId xmlns:a16="http://schemas.microsoft.com/office/drawing/2014/main" id="{7586D975-C192-4043-8311-D9B5BB65BE81}"/>
              </a:ext>
            </a:extLst>
          </p:cNvPr>
          <p:cNvSpPr>
            <a:spLocks noGrp="1"/>
          </p:cNvSpPr>
          <p:nvPr/>
        </p:nvSpPr>
        <p:spPr>
          <a:xfrm>
            <a:off x="1714500" y="2209800"/>
            <a:ext cx="9715500" cy="619125"/>
          </a:xfrm>
          <a:prstGeom prst="rect">
            <a:avLst/>
          </a:prstGeom>
        </p:spPr>
        <p:txBody>
          <a:bodyPr lIns="0" tIns="0" rIns="0" bIns="0"/>
          <a:lstStyle/>
          <a:p>
            <a:pPr>
              <a:defRPr sz="2175" b="0">
                <a:solidFill>
                  <a:srgbClr val="182C32"/>
                </a:solidFill>
                <a:latin typeface="Arial"/>
                <a:ea typeface="Arial"/>
                <a:cs typeface="Arial"/>
              </a:defRPr>
            </a:pPr>
            <a:r>
              <a:rPr lang="en-GB" altLang="zh-CN" dirty="0"/>
              <a:t>Attack based on longer period of loss objective &amp; Targeted attack</a:t>
            </a:r>
          </a:p>
        </p:txBody>
      </p:sp>
      <p:sp>
        <p:nvSpPr>
          <p:cNvPr id="9" name="text-143">
            <a:extLst>
              <a:ext uri="{FF2B5EF4-FFF2-40B4-BE49-F238E27FC236}">
                <a16:creationId xmlns:a16="http://schemas.microsoft.com/office/drawing/2014/main" id="{509268BC-1672-4649-902D-1366EE53D673}"/>
              </a:ext>
            </a:extLst>
          </p:cNvPr>
          <p:cNvSpPr>
            <a:spLocks noGrp="1"/>
          </p:cNvSpPr>
          <p:nvPr/>
        </p:nvSpPr>
        <p:spPr>
          <a:xfrm>
            <a:off x="628650" y="3076575"/>
            <a:ext cx="762000" cy="428625"/>
          </a:xfrm>
          <a:prstGeom prst="rect">
            <a:avLst/>
          </a:prstGeom>
        </p:spPr>
        <p:txBody>
          <a:bodyPr lIns="0" tIns="0" rIns="0" bIns="0"/>
          <a:lstStyle/>
          <a:p>
            <a:pPr>
              <a:buNone/>
              <a:defRPr sz="2250" b="1">
                <a:solidFill>
                  <a:srgbClr val="566F69"/>
                </a:solidFill>
                <a:latin typeface="Arial"/>
                <a:ea typeface="Arial"/>
                <a:cs typeface="Arial"/>
              </a:defRPr>
            </a:pPr>
            <a:r>
              <a:t>02</a:t>
            </a:r>
          </a:p>
        </p:txBody>
      </p:sp>
      <p:sp>
        <p:nvSpPr>
          <p:cNvPr id="10" name="text-144">
            <a:extLst>
              <a:ext uri="{FF2B5EF4-FFF2-40B4-BE49-F238E27FC236}">
                <a16:creationId xmlns:a16="http://schemas.microsoft.com/office/drawing/2014/main" id="{AFE3632F-5368-492C-BD60-8F433EFF5756}"/>
              </a:ext>
            </a:extLst>
          </p:cNvPr>
          <p:cNvSpPr>
            <a:spLocks noGrp="1"/>
          </p:cNvSpPr>
          <p:nvPr/>
        </p:nvSpPr>
        <p:spPr>
          <a:xfrm>
            <a:off x="1714500" y="3076575"/>
            <a:ext cx="9715500" cy="619125"/>
          </a:xfrm>
          <a:prstGeom prst="rect">
            <a:avLst/>
          </a:prstGeom>
        </p:spPr>
        <p:txBody>
          <a:bodyPr lIns="0" tIns="0" rIns="0" bIns="0"/>
          <a:lstStyle/>
          <a:p>
            <a:pPr>
              <a:buNone/>
              <a:defRPr sz="2175" b="0">
                <a:solidFill>
                  <a:srgbClr val="182C32"/>
                </a:solidFill>
                <a:latin typeface="Arial"/>
                <a:ea typeface="Arial"/>
                <a:cs typeface="Arial"/>
              </a:defRPr>
            </a:pPr>
            <a:r>
              <a:rPr lang="en-GB" altLang="zh-CN" dirty="0"/>
              <a:t>Physical reasonableness: wavelet transform, additional term in loss function and regional limitation mask</a:t>
            </a:r>
          </a:p>
        </p:txBody>
      </p:sp>
      <p:sp>
        <p:nvSpPr>
          <p:cNvPr id="11" name="text-145">
            <a:extLst>
              <a:ext uri="{FF2B5EF4-FFF2-40B4-BE49-F238E27FC236}">
                <a16:creationId xmlns:a16="http://schemas.microsoft.com/office/drawing/2014/main" id="{4793536D-EFCE-48A2-BAE4-ADF851C55F30}"/>
              </a:ext>
            </a:extLst>
          </p:cNvPr>
          <p:cNvSpPr>
            <a:spLocks noGrp="1"/>
          </p:cNvSpPr>
          <p:nvPr/>
        </p:nvSpPr>
        <p:spPr>
          <a:xfrm>
            <a:off x="628650" y="3943350"/>
            <a:ext cx="762000" cy="428625"/>
          </a:xfrm>
          <a:prstGeom prst="rect">
            <a:avLst/>
          </a:prstGeom>
        </p:spPr>
        <p:txBody>
          <a:bodyPr lIns="0" tIns="0" rIns="0" bIns="0"/>
          <a:lstStyle/>
          <a:p>
            <a:pPr>
              <a:buNone/>
              <a:defRPr sz="2250" b="1">
                <a:solidFill>
                  <a:srgbClr val="566F69"/>
                </a:solidFill>
                <a:latin typeface="Arial"/>
                <a:ea typeface="Arial"/>
                <a:cs typeface="Arial"/>
              </a:defRPr>
            </a:pPr>
            <a:r>
              <a:t>03</a:t>
            </a:r>
          </a:p>
        </p:txBody>
      </p:sp>
      <p:sp>
        <p:nvSpPr>
          <p:cNvPr id="12" name="text-146">
            <a:extLst>
              <a:ext uri="{FF2B5EF4-FFF2-40B4-BE49-F238E27FC236}">
                <a16:creationId xmlns:a16="http://schemas.microsoft.com/office/drawing/2014/main" id="{A77489A1-DEC6-4321-9C65-9511410FE150}"/>
              </a:ext>
            </a:extLst>
          </p:cNvPr>
          <p:cNvSpPr>
            <a:spLocks noGrp="1"/>
          </p:cNvSpPr>
          <p:nvPr/>
        </p:nvSpPr>
        <p:spPr>
          <a:xfrm>
            <a:off x="1714500" y="3943350"/>
            <a:ext cx="9715500" cy="619125"/>
          </a:xfrm>
          <a:prstGeom prst="rect">
            <a:avLst/>
          </a:prstGeom>
        </p:spPr>
        <p:txBody>
          <a:bodyPr lIns="0" tIns="0" rIns="0" bIns="0"/>
          <a:lstStyle/>
          <a:p>
            <a:pPr>
              <a:buNone/>
              <a:defRPr sz="2175" b="0">
                <a:solidFill>
                  <a:srgbClr val="182C32"/>
                </a:solidFill>
                <a:latin typeface="Arial"/>
                <a:ea typeface="Arial"/>
                <a:cs typeface="Arial"/>
              </a:defRPr>
            </a:pPr>
            <a:r>
              <a:rPr dirty="0"/>
              <a:t>Do attacks transfer across models or forecast types?</a:t>
            </a:r>
          </a:p>
        </p:txBody>
      </p:sp>
      <p:sp>
        <p:nvSpPr>
          <p:cNvPr id="13" name="shape-147">
            <a:extLst>
              <a:ext uri="{FF2B5EF4-FFF2-40B4-BE49-F238E27FC236}">
                <a16:creationId xmlns:a16="http://schemas.microsoft.com/office/drawing/2014/main" id="{F68A37D0-CC56-47EA-98FF-EBB014DA901E}"/>
              </a:ext>
            </a:extLst>
          </p:cNvPr>
          <p:cNvSpPr>
            <a:spLocks noGrp="1"/>
          </p:cNvSpPr>
          <p:nvPr/>
        </p:nvSpPr>
        <p:spPr>
          <a:xfrm>
            <a:off x="628650" y="4953000"/>
            <a:ext cx="10934700" cy="9525"/>
          </a:xfrm>
          <a:prstGeom prst="rect">
            <a:avLst/>
          </a:prstGeom>
          <a:solidFill>
            <a:srgbClr val="D1D7D4"/>
          </a:solidFill>
          <a:ln w="0">
            <a:solidFill>
              <a:srgbClr val="D1D7D4"/>
            </a:solidFill>
            <a:prstDash val="solid"/>
          </a:ln>
        </p:spPr>
        <p:txBody>
          <a:bodyPr/>
          <a:lstStyle/>
          <a:p>
            <a:endParaRPr/>
          </a:p>
        </p:txBody>
      </p:sp>
      <p:sp>
        <p:nvSpPr>
          <p:cNvPr id="14" name="text-148">
            <a:extLst>
              <a:ext uri="{FF2B5EF4-FFF2-40B4-BE49-F238E27FC236}">
                <a16:creationId xmlns:a16="http://schemas.microsoft.com/office/drawing/2014/main" id="{0DB459C6-B59D-40A8-A15A-6BF0D1043208}"/>
              </a:ext>
            </a:extLst>
          </p:cNvPr>
          <p:cNvSpPr>
            <a:spLocks noGrp="1"/>
          </p:cNvSpPr>
          <p:nvPr/>
        </p:nvSpPr>
        <p:spPr>
          <a:xfrm>
            <a:off x="628650" y="5238750"/>
            <a:ext cx="1428750" cy="285750"/>
          </a:xfrm>
          <a:prstGeom prst="rect">
            <a:avLst/>
          </a:prstGeom>
        </p:spPr>
        <p:txBody>
          <a:bodyPr lIns="0" tIns="0" rIns="0" bIns="0"/>
          <a:lstStyle/>
          <a:p>
            <a:pPr>
              <a:buNone/>
              <a:defRPr sz="1200" b="1">
                <a:solidFill>
                  <a:srgbClr val="566F69"/>
                </a:solidFill>
                <a:latin typeface="Arial"/>
                <a:ea typeface="Arial"/>
                <a:cs typeface="Arial"/>
              </a:defRPr>
            </a:pPr>
            <a:r>
              <a:t>FIRST</a:t>
            </a:r>
          </a:p>
        </p:txBody>
      </p:sp>
      <p:sp>
        <p:nvSpPr>
          <p:cNvPr id="15" name="text-149">
            <a:extLst>
              <a:ext uri="{FF2B5EF4-FFF2-40B4-BE49-F238E27FC236}">
                <a16:creationId xmlns:a16="http://schemas.microsoft.com/office/drawing/2014/main" id="{D53A2F63-93D9-42EE-A37D-6F98B79EF05E}"/>
              </a:ext>
            </a:extLst>
          </p:cNvPr>
          <p:cNvSpPr>
            <a:spLocks noGrp="1"/>
          </p:cNvSpPr>
          <p:nvPr/>
        </p:nvSpPr>
        <p:spPr>
          <a:xfrm>
            <a:off x="2095500" y="5191125"/>
            <a:ext cx="9239250" cy="400050"/>
          </a:xfrm>
          <a:prstGeom prst="rect">
            <a:avLst/>
          </a:prstGeom>
        </p:spPr>
        <p:txBody>
          <a:bodyPr lIns="0" tIns="0" rIns="0" bIns="0"/>
          <a:lstStyle/>
          <a:p>
            <a:pPr>
              <a:buNone/>
              <a:defRPr sz="2100" b="0">
                <a:solidFill>
                  <a:srgbClr val="182C32"/>
                </a:solidFill>
                <a:latin typeface="Arial"/>
                <a:ea typeface="Arial"/>
                <a:cs typeface="Arial"/>
              </a:defRPr>
            </a:pPr>
            <a:r>
              <a:t>Direct regional target on our CNN</a:t>
            </a:r>
          </a:p>
        </p:txBody>
      </p:sp>
      <p:sp>
        <p:nvSpPr>
          <p:cNvPr id="16" name="text-150">
            <a:extLst>
              <a:ext uri="{FF2B5EF4-FFF2-40B4-BE49-F238E27FC236}">
                <a16:creationId xmlns:a16="http://schemas.microsoft.com/office/drawing/2014/main" id="{CAC3D504-2D29-460A-A8F6-E8F6E90A7178}"/>
              </a:ext>
            </a:extLst>
          </p:cNvPr>
          <p:cNvSpPr>
            <a:spLocks noGrp="1"/>
          </p:cNvSpPr>
          <p:nvPr/>
        </p:nvSpPr>
        <p:spPr>
          <a:xfrm>
            <a:off x="628650" y="5762625"/>
            <a:ext cx="1428750" cy="285750"/>
          </a:xfrm>
          <a:prstGeom prst="rect">
            <a:avLst/>
          </a:prstGeom>
        </p:spPr>
        <p:txBody>
          <a:bodyPr lIns="0" tIns="0" rIns="0" bIns="0"/>
          <a:lstStyle/>
          <a:p>
            <a:pPr>
              <a:buNone/>
              <a:defRPr sz="1200" b="1">
                <a:solidFill>
                  <a:srgbClr val="566F69"/>
                </a:solidFill>
                <a:latin typeface="Arial"/>
                <a:ea typeface="Arial"/>
                <a:cs typeface="Arial"/>
              </a:defRPr>
            </a:pPr>
            <a:r>
              <a:t>THEN</a:t>
            </a:r>
          </a:p>
        </p:txBody>
      </p:sp>
      <p:sp>
        <p:nvSpPr>
          <p:cNvPr id="17" name="text-151">
            <a:extLst>
              <a:ext uri="{FF2B5EF4-FFF2-40B4-BE49-F238E27FC236}">
                <a16:creationId xmlns:a16="http://schemas.microsoft.com/office/drawing/2014/main" id="{90671E0A-22C3-470D-BD11-1C74596C779C}"/>
              </a:ext>
            </a:extLst>
          </p:cNvPr>
          <p:cNvSpPr>
            <a:spLocks noGrp="1"/>
          </p:cNvSpPr>
          <p:nvPr/>
        </p:nvSpPr>
        <p:spPr>
          <a:xfrm>
            <a:off x="2095500" y="5715000"/>
            <a:ext cx="9239250" cy="409575"/>
          </a:xfrm>
          <a:prstGeom prst="rect">
            <a:avLst/>
          </a:prstGeom>
        </p:spPr>
        <p:txBody>
          <a:bodyPr lIns="0" tIns="0" rIns="0" bIns="0"/>
          <a:lstStyle/>
          <a:p>
            <a:pPr>
              <a:buNone/>
              <a:defRPr sz="2025" b="0">
                <a:solidFill>
                  <a:srgbClr val="182C32"/>
                </a:solidFill>
                <a:latin typeface="Arial"/>
                <a:ea typeface="Arial"/>
                <a:cs typeface="Arial"/>
              </a:defRPr>
            </a:pPr>
            <a:r>
              <a:t>Compare wavelets / smoothness → prepare Otter</a:t>
            </a:r>
          </a:p>
        </p:txBody>
      </p:sp>
    </p:spTree>
    <p:extLst>
      <p:ext uri="{BB962C8B-B14F-4D97-AF65-F5344CB8AC3E}">
        <p14:creationId xmlns:p14="http://schemas.microsoft.com/office/powerpoint/2010/main" val="20129735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2216</Words>
  <Application>Microsoft Macintosh PowerPoint</Application>
  <DocSecurity>0</DocSecurity>
  <PresentationFormat>宽屏</PresentationFormat>
  <Paragraphs>210</Paragraphs>
  <Slides>12</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Arial</vt:lpstr>
      <vt:lpstr>Calibri</vt:lpstr>
      <vt:lpstr>Georgia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Meng, Jerry</cp:lastModifiedBy>
  <cp:revision>8</cp:revision>
  <dcterms:created xsi:type="dcterms:W3CDTF">2026-10-20T18:38:54Z</dcterms:created>
  <dcterms:modified xsi:type="dcterms:W3CDTF">2026-10-21T11:07:07Z</dcterms:modified>
</cp:coreProperties>
</file>